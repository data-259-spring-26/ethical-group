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3"/>
  </p:notesMasterIdLst>
  <p:sldIdLst>
    <p:sldId id="256" r:id="rId2"/>
  </p:sldIdLst>
  <p:sldSz cx="32918400" cy="219456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812"/>
    <p:restoredTop sz="94610"/>
  </p:normalViewPr>
  <p:slideViewPr>
    <p:cSldViewPr snapToGrid="0" snapToObjects="1">
      <p:cViewPr>
        <p:scale>
          <a:sx n="54" d="100"/>
          <a:sy n="54" d="100"/>
        </p:scale>
        <p:origin x="280"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BNPL use rate (%)</c:v>
                </c:pt>
              </c:strCache>
            </c:strRef>
          </c:tx>
          <c:spPr>
            <a:solidFill>
              <a:srgbClr val="3B5680"/>
            </a:solidFill>
            <a:effectLst/>
          </c:spPr>
          <c:invertIfNegative val="0"/>
          <c:dLbls>
            <c:numFmt formatCode="0.0" sourceLinked="0"/>
            <c:spPr>
              <a:noFill/>
              <a:ln>
                <a:noFill/>
              </a:ln>
              <a:effectLst/>
            </c:spPr>
            <c:txPr>
              <a:bodyPr/>
              <a:lstStyle/>
              <a:p>
                <a:pPr>
                  <a:defRPr sz="750" b="1" i="0" u="none" strike="noStrike">
                    <a:solidFill>
                      <a:srgbClr val="1A2B4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18-24</c:v>
                </c:pt>
                <c:pt idx="1">
                  <c:v>25-34</c:v>
                </c:pt>
                <c:pt idx="2">
                  <c:v>35-44</c:v>
                </c:pt>
                <c:pt idx="3">
                  <c:v>45-54</c:v>
                </c:pt>
                <c:pt idx="4">
                  <c:v>55-64</c:v>
                </c:pt>
                <c:pt idx="5">
                  <c:v>65-74</c:v>
                </c:pt>
                <c:pt idx="6">
                  <c:v>75+</c:v>
                </c:pt>
              </c:strCache>
            </c:strRef>
          </c:cat>
          <c:val>
            <c:numRef>
              <c:f>Sheet1!$B$2:$B$8</c:f>
              <c:numCache>
                <c:formatCode>General</c:formatCode>
                <c:ptCount val="7"/>
                <c:pt idx="0">
                  <c:v>17.899999999999999</c:v>
                </c:pt>
                <c:pt idx="1">
                  <c:v>20</c:v>
                </c:pt>
                <c:pt idx="2">
                  <c:v>18.399999999999999</c:v>
                </c:pt>
                <c:pt idx="3">
                  <c:v>16.100000000000001</c:v>
                </c:pt>
                <c:pt idx="4">
                  <c:v>12.8</c:v>
                </c:pt>
                <c:pt idx="5">
                  <c:v>8.4</c:v>
                </c:pt>
                <c:pt idx="6">
                  <c:v>4.0999999999999996</c:v>
                </c:pt>
              </c:numCache>
            </c:numRef>
          </c:val>
          <c:extLst>
            <c:ext xmlns:c16="http://schemas.microsoft.com/office/drawing/2014/chart" uri="{C3380CC4-5D6E-409C-BE32-E72D297353CC}">
              <c16:uniqueId val="{00000000-E693-DB4C-8050-4A767AFD56F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1F2937"/>
                </a:solidFill>
                <a:latin typeface="Calibri"/>
              </a:defRPr>
            </a:pPr>
            <a:endParaRPr lang="en-US"/>
          </a:p>
        </c:txPr>
        <c:crossAx val="2094734552"/>
        <c:crosses val="autoZero"/>
        <c:auto val="1"/>
        <c:lblAlgn val="ctr"/>
        <c:lblOffset val="100"/>
        <c:noMultiLvlLbl val="1"/>
      </c:catAx>
      <c:valAx>
        <c:axId val="2094734552"/>
        <c:scaling>
          <c:orientation val="minMax"/>
          <c:max val="24"/>
          <c:min val="0"/>
        </c:scaling>
        <c:delete val="0"/>
        <c:axPos val="l"/>
        <c:majorGridlines>
          <c:spPr>
            <a:ln w="6350" cap="flat">
              <a:solidFill>
                <a:srgbClr val="E8E5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280"/>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8051705"/>
      </p:ext>
    </p:extLst>
  </p:cSld>
  <p:clrMap bg1="lt1" tx1="dk1" bg2="lt2" tx2="dk2" accent1="accent1" accent2="accent2" accent3="accent3" accent4="accent4" accent5="accent5" accent6="accent6" hlink="hlink" folHlink="folHlink"/>
  <p:notesStyle>
    <a:lvl1pPr marL="0" algn="l" defTabSz="2633472" rtl="0" eaLnBrk="1" latinLnBrk="0" hangingPunct="1">
      <a:defRPr sz="3456" kern="1200">
        <a:solidFill>
          <a:schemeClr val="tx1"/>
        </a:solidFill>
        <a:latin typeface="+mn-lt"/>
        <a:ea typeface="+mn-ea"/>
        <a:cs typeface="+mn-cs"/>
      </a:defRPr>
    </a:lvl1pPr>
    <a:lvl2pPr marL="1316736" algn="l" defTabSz="2633472" rtl="0" eaLnBrk="1" latinLnBrk="0" hangingPunct="1">
      <a:defRPr sz="3456" kern="1200">
        <a:solidFill>
          <a:schemeClr val="tx1"/>
        </a:solidFill>
        <a:latin typeface="+mn-lt"/>
        <a:ea typeface="+mn-ea"/>
        <a:cs typeface="+mn-cs"/>
      </a:defRPr>
    </a:lvl2pPr>
    <a:lvl3pPr marL="2633472" algn="l" defTabSz="2633472" rtl="0" eaLnBrk="1" latinLnBrk="0" hangingPunct="1">
      <a:defRPr sz="3456" kern="1200">
        <a:solidFill>
          <a:schemeClr val="tx1"/>
        </a:solidFill>
        <a:latin typeface="+mn-lt"/>
        <a:ea typeface="+mn-ea"/>
        <a:cs typeface="+mn-cs"/>
      </a:defRPr>
    </a:lvl3pPr>
    <a:lvl4pPr marL="3950208" algn="l" defTabSz="2633472" rtl="0" eaLnBrk="1" latinLnBrk="0" hangingPunct="1">
      <a:defRPr sz="3456" kern="1200">
        <a:solidFill>
          <a:schemeClr val="tx1"/>
        </a:solidFill>
        <a:latin typeface="+mn-lt"/>
        <a:ea typeface="+mn-ea"/>
        <a:cs typeface="+mn-cs"/>
      </a:defRPr>
    </a:lvl4pPr>
    <a:lvl5pPr marL="5266944" algn="l" defTabSz="2633472" rtl="0" eaLnBrk="1" latinLnBrk="0" hangingPunct="1">
      <a:defRPr sz="3456" kern="1200">
        <a:solidFill>
          <a:schemeClr val="tx1"/>
        </a:solidFill>
        <a:latin typeface="+mn-lt"/>
        <a:ea typeface="+mn-ea"/>
        <a:cs typeface="+mn-cs"/>
      </a:defRPr>
    </a:lvl5pPr>
    <a:lvl6pPr marL="6583680" algn="l" defTabSz="2633472" rtl="0" eaLnBrk="1" latinLnBrk="0" hangingPunct="1">
      <a:defRPr sz="3456" kern="1200">
        <a:solidFill>
          <a:schemeClr val="tx1"/>
        </a:solidFill>
        <a:latin typeface="+mn-lt"/>
        <a:ea typeface="+mn-ea"/>
        <a:cs typeface="+mn-cs"/>
      </a:defRPr>
    </a:lvl6pPr>
    <a:lvl7pPr marL="7900416" algn="l" defTabSz="2633472" rtl="0" eaLnBrk="1" latinLnBrk="0" hangingPunct="1">
      <a:defRPr sz="3456" kern="1200">
        <a:solidFill>
          <a:schemeClr val="tx1"/>
        </a:solidFill>
        <a:latin typeface="+mn-lt"/>
        <a:ea typeface="+mn-ea"/>
        <a:cs typeface="+mn-cs"/>
      </a:defRPr>
    </a:lvl7pPr>
    <a:lvl8pPr marL="9217152" algn="l" defTabSz="2633472" rtl="0" eaLnBrk="1" latinLnBrk="0" hangingPunct="1">
      <a:defRPr sz="3456" kern="1200">
        <a:solidFill>
          <a:schemeClr val="tx1"/>
        </a:solidFill>
        <a:latin typeface="+mn-lt"/>
        <a:ea typeface="+mn-ea"/>
        <a:cs typeface="+mn-cs"/>
      </a:defRPr>
    </a:lvl8pPr>
    <a:lvl9pPr marL="10533888" algn="l" defTabSz="2633472" rtl="0" eaLnBrk="1" latinLnBrk="0" hangingPunct="1">
      <a:defRPr sz="345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8480052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3847710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173172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1852826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9369790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606044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4533152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8778941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5377779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3667773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7903490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3378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fld id="{C764DE79-268F-4C1A-8933-263129D2AF90}" type="datetimeFigureOut">
              <a:rPr lang="en-US" dirty="0"/>
              <a:t>5/22/26</a:t>
            </a:fld>
            <a:endParaRPr lang="en-US" dirty="0"/>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9867878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714500"/>
            <a:ext cx="32836104" cy="197510"/>
          </a:xfrm>
          <a:prstGeom prst="rect">
            <a:avLst/>
          </a:prstGeom>
          <a:solidFill>
            <a:srgbClr val="1A2B4A"/>
          </a:solidFill>
          <a:ln w="12700">
            <a:solidFill>
              <a:srgbClr val="1A2B4A"/>
            </a:solidFill>
            <a:prstDash val="solid"/>
          </a:ln>
        </p:spPr>
        <p:txBody>
          <a:bodyPr/>
          <a:lstStyle/>
          <a:p>
            <a:endParaRPr lang="en-US" sz="13997"/>
          </a:p>
        </p:txBody>
      </p:sp>
      <p:sp>
        <p:nvSpPr>
          <p:cNvPr id="3" name="Text 1"/>
          <p:cNvSpPr/>
          <p:nvPr/>
        </p:nvSpPr>
        <p:spPr>
          <a:xfrm>
            <a:off x="864108" y="2208276"/>
            <a:ext cx="20985480" cy="1357884"/>
          </a:xfrm>
          <a:prstGeom prst="rect">
            <a:avLst/>
          </a:prstGeom>
          <a:noFill/>
          <a:ln/>
        </p:spPr>
        <p:txBody>
          <a:bodyPr wrap="square" lIns="0" tIns="0" rIns="0" bIns="0" rtlCol="0" anchor="ctr"/>
          <a:lstStyle/>
          <a:p>
            <a:r>
              <a:rPr lang="en-US" sz="7020" b="1" kern="0" spc="1620" dirty="0">
                <a:solidFill>
                  <a:srgbClr val="1A2B4A"/>
                </a:solidFill>
                <a:latin typeface="Garamond" pitchFamily="34" charset="0"/>
                <a:ea typeface="Garamond" pitchFamily="34" charset="-122"/>
                <a:cs typeface="Garamond" pitchFamily="34" charset="-120"/>
              </a:rPr>
              <a:t>BUY NOW, PAY LATER</a:t>
            </a:r>
            <a:endParaRPr lang="en-US" sz="7020" dirty="0"/>
          </a:p>
        </p:txBody>
      </p:sp>
      <p:sp>
        <p:nvSpPr>
          <p:cNvPr id="5" name="Shape 3"/>
          <p:cNvSpPr/>
          <p:nvPr/>
        </p:nvSpPr>
        <p:spPr>
          <a:xfrm>
            <a:off x="864108" y="3931486"/>
            <a:ext cx="31107888" cy="0"/>
          </a:xfrm>
          <a:prstGeom prst="line">
            <a:avLst/>
          </a:prstGeom>
          <a:noFill/>
          <a:ln w="15875">
            <a:solidFill>
              <a:srgbClr val="1A2B4A"/>
            </a:solidFill>
            <a:prstDash val="solid"/>
          </a:ln>
        </p:spPr>
        <p:txBody>
          <a:bodyPr/>
          <a:lstStyle/>
          <a:p>
            <a:endParaRPr lang="en-US" sz="13997"/>
          </a:p>
        </p:txBody>
      </p:sp>
      <p:sp>
        <p:nvSpPr>
          <p:cNvPr id="6" name="Shape 4"/>
          <p:cNvSpPr/>
          <p:nvPr/>
        </p:nvSpPr>
        <p:spPr>
          <a:xfrm>
            <a:off x="864108" y="4079618"/>
            <a:ext cx="31107888" cy="0"/>
          </a:xfrm>
          <a:prstGeom prst="line">
            <a:avLst/>
          </a:prstGeom>
          <a:noFill/>
          <a:ln w="6350">
            <a:solidFill>
              <a:srgbClr val="C9A961"/>
            </a:solidFill>
            <a:prstDash val="solid"/>
          </a:ln>
        </p:spPr>
        <p:txBody>
          <a:bodyPr/>
          <a:lstStyle/>
          <a:p>
            <a:endParaRPr lang="en-US" sz="13997"/>
          </a:p>
        </p:txBody>
      </p:sp>
      <p:sp>
        <p:nvSpPr>
          <p:cNvPr id="7" name="Text 5"/>
          <p:cNvSpPr/>
          <p:nvPr/>
        </p:nvSpPr>
        <p:spPr>
          <a:xfrm>
            <a:off x="864108" y="4277129"/>
            <a:ext cx="31107888" cy="543154"/>
          </a:xfrm>
          <a:prstGeom prst="rect">
            <a:avLst/>
          </a:prstGeom>
          <a:noFill/>
          <a:ln/>
        </p:spPr>
        <p:txBody>
          <a:bodyPr wrap="square" lIns="0" tIns="0" rIns="0" bIns="0" rtlCol="0" anchor="ctr"/>
          <a:lstStyle/>
          <a:p>
            <a:r>
              <a:rPr lang="en-US" sz="2700" b="1" kern="0" spc="1080" dirty="0">
                <a:solidFill>
                  <a:srgbClr val="1A2B4A"/>
                </a:solidFill>
                <a:latin typeface="Calibri" pitchFamily="34" charset="0"/>
                <a:ea typeface="Calibri" pitchFamily="34" charset="-122"/>
                <a:cs typeface="Calibri" pitchFamily="34" charset="-120"/>
              </a:rPr>
              <a:t>I.  RESEARCH QUESTION AND ETHICAL CONTEXT</a:t>
            </a:r>
            <a:endParaRPr lang="en-US" sz="2700" dirty="0"/>
          </a:p>
        </p:txBody>
      </p:sp>
      <p:sp>
        <p:nvSpPr>
          <p:cNvPr id="8" name="Shape 6"/>
          <p:cNvSpPr/>
          <p:nvPr/>
        </p:nvSpPr>
        <p:spPr>
          <a:xfrm>
            <a:off x="864108" y="4919037"/>
            <a:ext cx="31107888" cy="1036930"/>
          </a:xfrm>
          <a:prstGeom prst="rect">
            <a:avLst/>
          </a:prstGeom>
          <a:solidFill>
            <a:srgbClr val="F5F2EB"/>
          </a:solidFill>
          <a:ln w="6350">
            <a:solidFill>
              <a:srgbClr val="D9D5CC"/>
            </a:solidFill>
            <a:prstDash val="solid"/>
          </a:ln>
        </p:spPr>
        <p:txBody>
          <a:bodyPr/>
          <a:lstStyle/>
          <a:p>
            <a:endParaRPr lang="en-US" sz="13997"/>
          </a:p>
        </p:txBody>
      </p:sp>
      <p:sp>
        <p:nvSpPr>
          <p:cNvPr id="9" name="Shape 7"/>
          <p:cNvSpPr/>
          <p:nvPr/>
        </p:nvSpPr>
        <p:spPr>
          <a:xfrm>
            <a:off x="864108" y="4919037"/>
            <a:ext cx="172822" cy="1036930"/>
          </a:xfrm>
          <a:prstGeom prst="rect">
            <a:avLst/>
          </a:prstGeom>
          <a:solidFill>
            <a:srgbClr val="1A2B4A"/>
          </a:solidFill>
          <a:ln w="12700">
            <a:solidFill>
              <a:srgbClr val="1A2B4A"/>
            </a:solidFill>
            <a:prstDash val="solid"/>
          </a:ln>
        </p:spPr>
        <p:txBody>
          <a:bodyPr/>
          <a:lstStyle/>
          <a:p>
            <a:endParaRPr lang="en-US" sz="13997"/>
          </a:p>
        </p:txBody>
      </p:sp>
      <p:sp>
        <p:nvSpPr>
          <p:cNvPr id="10" name="Text 8"/>
          <p:cNvSpPr/>
          <p:nvPr/>
        </p:nvSpPr>
        <p:spPr>
          <a:xfrm>
            <a:off x="1357884" y="4968415"/>
            <a:ext cx="30367224" cy="938174"/>
          </a:xfrm>
          <a:prstGeom prst="rect">
            <a:avLst/>
          </a:prstGeom>
          <a:noFill/>
          <a:ln/>
        </p:spPr>
        <p:txBody>
          <a:bodyPr wrap="square" lIns="0" tIns="0" rIns="0" bIns="0" rtlCol="0" anchor="ctr"/>
          <a:lstStyle/>
          <a:p>
            <a:pPr>
              <a:lnSpc>
                <a:spcPct val="110000"/>
              </a:lnSpc>
            </a:pPr>
            <a:r>
              <a:rPr lang="en-US" sz="2835" b="1" i="1" dirty="0">
                <a:solidFill>
                  <a:srgbClr val="1A2B4A"/>
                </a:solidFill>
                <a:latin typeface="Garamond" pitchFamily="34" charset="0"/>
                <a:ea typeface="Garamond" pitchFamily="34" charset="-122"/>
                <a:cs typeface="Garamond" pitchFamily="34" charset="-120"/>
              </a:rPr>
              <a:t>Research Question  </a:t>
            </a:r>
            <a:r>
              <a:rPr lang="en-US" sz="2835" dirty="0">
                <a:solidFill>
                  <a:srgbClr val="B5B0A5"/>
                </a:solidFill>
                <a:latin typeface="Calibri" pitchFamily="34" charset="0"/>
                <a:ea typeface="Calibri" pitchFamily="34" charset="-122"/>
                <a:cs typeface="Calibri" pitchFamily="34" charset="-120"/>
              </a:rPr>
              <a:t>│  </a:t>
            </a:r>
            <a:r>
              <a:rPr lang="en-US" sz="2835" dirty="0">
                <a:solidFill>
                  <a:srgbClr val="1F2937"/>
                </a:solidFill>
                <a:latin typeface="Calibri" pitchFamily="34" charset="0"/>
                <a:ea typeface="Calibri" pitchFamily="34" charset="-122"/>
                <a:cs typeface="Calibri" pitchFamily="34" charset="-120"/>
              </a:rPr>
              <a:t>Do BNPL providers disproportionately reach financially vulnerable consumers, and does the messaging in their advertising obscure or downplay the risks of borrowing?</a:t>
            </a:r>
            <a:endParaRPr lang="en-US" sz="2835" dirty="0"/>
          </a:p>
        </p:txBody>
      </p:sp>
      <p:sp>
        <p:nvSpPr>
          <p:cNvPr id="11" name="Text 9"/>
          <p:cNvSpPr/>
          <p:nvPr/>
        </p:nvSpPr>
        <p:spPr>
          <a:xfrm>
            <a:off x="864108" y="6642873"/>
            <a:ext cx="10245852" cy="691286"/>
          </a:xfrm>
          <a:prstGeom prst="rect">
            <a:avLst/>
          </a:prstGeom>
          <a:noFill/>
          <a:ln/>
        </p:spPr>
        <p:txBody>
          <a:bodyPr wrap="square" lIns="0" tIns="0" rIns="0" bIns="0" rtlCol="0" anchor="ctr"/>
          <a:lstStyle/>
          <a:p>
            <a:r>
              <a:rPr lang="en-US" sz="2700" b="1" kern="0" spc="1080" dirty="0">
                <a:solidFill>
                  <a:srgbClr val="1A2B4A"/>
                </a:solidFill>
                <a:latin typeface="Calibri" pitchFamily="34" charset="0"/>
                <a:ea typeface="Calibri" pitchFamily="34" charset="-122"/>
                <a:cs typeface="Calibri" pitchFamily="34" charset="-120"/>
              </a:rPr>
              <a:t>WHY THIS QUESTION MATTERS</a:t>
            </a:r>
            <a:endParaRPr lang="en-US" sz="2700" dirty="0"/>
          </a:p>
        </p:txBody>
      </p:sp>
      <p:sp>
        <p:nvSpPr>
          <p:cNvPr id="12" name="Shape 10"/>
          <p:cNvSpPr/>
          <p:nvPr/>
        </p:nvSpPr>
        <p:spPr>
          <a:xfrm>
            <a:off x="864108" y="7383537"/>
            <a:ext cx="10245852" cy="0"/>
          </a:xfrm>
          <a:prstGeom prst="line">
            <a:avLst/>
          </a:prstGeom>
          <a:noFill/>
          <a:ln w="12700">
            <a:solidFill>
              <a:srgbClr val="C9A961"/>
            </a:solidFill>
            <a:prstDash val="solid"/>
          </a:ln>
        </p:spPr>
        <p:txBody>
          <a:bodyPr/>
          <a:lstStyle/>
          <a:p>
            <a:endParaRPr lang="en-US" sz="13997"/>
          </a:p>
        </p:txBody>
      </p:sp>
      <p:sp>
        <p:nvSpPr>
          <p:cNvPr id="13" name="Text 11"/>
          <p:cNvSpPr/>
          <p:nvPr/>
        </p:nvSpPr>
        <p:spPr>
          <a:xfrm>
            <a:off x="913486" y="7859007"/>
            <a:ext cx="10245852" cy="2715768"/>
          </a:xfrm>
          <a:prstGeom prst="rect">
            <a:avLst/>
          </a:prstGeom>
          <a:noFill/>
          <a:ln/>
        </p:spPr>
        <p:txBody>
          <a:bodyPr wrap="square" lIns="0" tIns="0" rIns="0" bIns="0" rtlCol="0" anchor="t"/>
          <a:lstStyle/>
          <a:p>
            <a:pPr>
              <a:lnSpc>
                <a:spcPct val="120000"/>
              </a:lnSpc>
              <a:spcAft>
                <a:spcPts val="1080"/>
              </a:spcAft>
            </a:pPr>
            <a:r>
              <a:rPr lang="en-US" sz="2835" dirty="0">
                <a:solidFill>
                  <a:srgbClr val="374151"/>
                </a:solidFill>
                <a:latin typeface="Calibri" pitchFamily="34" charset="0"/>
                <a:ea typeface="Calibri" pitchFamily="34" charset="-122"/>
                <a:cs typeface="Calibri" pitchFamily="34" charset="-120"/>
              </a:rPr>
              <a:t>Buy-now-pay-later ("BNPL") has been gaining popularity in the U.S. consumer finance market, with prior CFPB research documenting concentrated adoption among </a:t>
            </a:r>
            <a:r>
              <a:rPr lang="en-US" sz="2835" b="1" dirty="0">
                <a:solidFill>
                  <a:srgbClr val="1F2937"/>
                </a:solidFill>
                <a:latin typeface="Calibri" pitchFamily="34" charset="0"/>
                <a:ea typeface="Calibri" pitchFamily="34" charset="-122"/>
                <a:cs typeface="Calibri" pitchFamily="34" charset="-120"/>
              </a:rPr>
              <a:t>Black, Hispanic, lower-income, and younger </a:t>
            </a:r>
            <a:r>
              <a:rPr lang="en-US" sz="2835" dirty="0">
                <a:solidFill>
                  <a:srgbClr val="374151"/>
                </a:solidFill>
                <a:latin typeface="Calibri" pitchFamily="34" charset="0"/>
                <a:ea typeface="Calibri" pitchFamily="34" charset="-122"/>
                <a:cs typeface="Calibri" pitchFamily="34" charset="-120"/>
              </a:rPr>
              <a:t>consumers — the same cohorts least equipped to absorb a missed payment or late fee. </a:t>
            </a:r>
            <a:endParaRPr lang="en-US" sz="2835" dirty="0"/>
          </a:p>
        </p:txBody>
      </p:sp>
      <p:sp>
        <p:nvSpPr>
          <p:cNvPr id="14" name="Text 12"/>
          <p:cNvSpPr/>
          <p:nvPr/>
        </p:nvSpPr>
        <p:spPr>
          <a:xfrm>
            <a:off x="864108" y="11198497"/>
            <a:ext cx="10245852" cy="617220"/>
          </a:xfrm>
          <a:prstGeom prst="rect">
            <a:avLst/>
          </a:prstGeom>
          <a:noFill/>
          <a:ln/>
        </p:spPr>
        <p:txBody>
          <a:bodyPr wrap="square" lIns="0" tIns="0" rIns="0" bIns="0" rtlCol="0" anchor="ctr"/>
          <a:lstStyle/>
          <a:p>
            <a:r>
              <a:rPr lang="en-US" sz="2430" b="1" kern="0" spc="810" dirty="0">
                <a:solidFill>
                  <a:srgbClr val="1A2B4A"/>
                </a:solidFill>
                <a:latin typeface="Calibri" pitchFamily="34" charset="0"/>
                <a:ea typeface="Calibri" pitchFamily="34" charset="-122"/>
                <a:cs typeface="Calibri" pitchFamily="34" charset="-120"/>
              </a:rPr>
              <a:t>CONNECTION TO DATA ETHICS</a:t>
            </a:r>
            <a:endParaRPr lang="en-US" sz="2430" dirty="0"/>
          </a:p>
        </p:txBody>
      </p:sp>
      <p:sp>
        <p:nvSpPr>
          <p:cNvPr id="15" name="Shape 13"/>
          <p:cNvSpPr/>
          <p:nvPr/>
        </p:nvSpPr>
        <p:spPr>
          <a:xfrm>
            <a:off x="864108" y="11037479"/>
            <a:ext cx="5122926" cy="0"/>
          </a:xfrm>
          <a:prstGeom prst="line">
            <a:avLst/>
          </a:prstGeom>
          <a:noFill/>
          <a:ln w="6350">
            <a:solidFill>
              <a:srgbClr val="D9D5CC"/>
            </a:solidFill>
            <a:prstDash val="solid"/>
          </a:ln>
        </p:spPr>
        <p:txBody>
          <a:bodyPr/>
          <a:lstStyle/>
          <a:p>
            <a:endParaRPr lang="en-US" sz="13997"/>
          </a:p>
        </p:txBody>
      </p:sp>
      <p:sp>
        <p:nvSpPr>
          <p:cNvPr id="19" name="Text 17"/>
          <p:cNvSpPr/>
          <p:nvPr/>
        </p:nvSpPr>
        <p:spPr>
          <a:xfrm>
            <a:off x="11603736" y="6642873"/>
            <a:ext cx="10245852" cy="691286"/>
          </a:xfrm>
          <a:prstGeom prst="rect">
            <a:avLst/>
          </a:prstGeom>
          <a:noFill/>
          <a:ln/>
        </p:spPr>
        <p:txBody>
          <a:bodyPr wrap="square" lIns="0" tIns="0" rIns="0" bIns="0" rtlCol="0" anchor="ctr"/>
          <a:lstStyle/>
          <a:p>
            <a:r>
              <a:rPr lang="en-US" sz="2700" b="1" kern="0" spc="1080" dirty="0">
                <a:solidFill>
                  <a:srgbClr val="1A2B4A"/>
                </a:solidFill>
                <a:latin typeface="Calibri" pitchFamily="34" charset="0"/>
                <a:ea typeface="Calibri" pitchFamily="34" charset="-122"/>
                <a:cs typeface="Calibri" pitchFamily="34" charset="-120"/>
              </a:rPr>
              <a:t>ANALYTICAL APPROACH</a:t>
            </a:r>
            <a:endParaRPr lang="en-US" sz="2700" dirty="0"/>
          </a:p>
        </p:txBody>
      </p:sp>
      <p:sp>
        <p:nvSpPr>
          <p:cNvPr id="20" name="Shape 18"/>
          <p:cNvSpPr/>
          <p:nvPr/>
        </p:nvSpPr>
        <p:spPr>
          <a:xfrm>
            <a:off x="11603736" y="7383537"/>
            <a:ext cx="10245852" cy="0"/>
          </a:xfrm>
          <a:prstGeom prst="line">
            <a:avLst/>
          </a:prstGeom>
          <a:noFill/>
          <a:ln w="12700">
            <a:solidFill>
              <a:srgbClr val="C9A961"/>
            </a:solidFill>
            <a:prstDash val="solid"/>
          </a:ln>
        </p:spPr>
        <p:txBody>
          <a:bodyPr/>
          <a:lstStyle/>
          <a:p>
            <a:endParaRPr lang="en-US" sz="13997"/>
          </a:p>
        </p:txBody>
      </p:sp>
      <p:sp>
        <p:nvSpPr>
          <p:cNvPr id="21" name="Text 19"/>
          <p:cNvSpPr/>
          <p:nvPr/>
        </p:nvSpPr>
        <p:spPr>
          <a:xfrm>
            <a:off x="11603736" y="7630425"/>
            <a:ext cx="10245852" cy="1110996"/>
          </a:xfrm>
          <a:prstGeom prst="rect">
            <a:avLst/>
          </a:prstGeom>
          <a:noFill/>
          <a:ln/>
        </p:spPr>
        <p:txBody>
          <a:bodyPr wrap="square" lIns="0" tIns="0" rIns="0" bIns="0" rtlCol="0" anchor="t"/>
          <a:lstStyle/>
          <a:p>
            <a:pPr>
              <a:lnSpc>
                <a:spcPct val="120000"/>
              </a:lnSpc>
            </a:pPr>
            <a:r>
              <a:rPr lang="en-US" sz="2835" b="1" i="1" dirty="0">
                <a:solidFill>
                  <a:srgbClr val="1A2B4A"/>
                </a:solidFill>
                <a:latin typeface="Garamond" pitchFamily="34" charset="0"/>
                <a:ea typeface="Garamond" pitchFamily="34" charset="-122"/>
                <a:cs typeface="Garamond" pitchFamily="34" charset="-120"/>
              </a:rPr>
              <a:t>Data Source.  </a:t>
            </a:r>
            <a:r>
              <a:rPr lang="en-US" sz="2835" dirty="0">
                <a:solidFill>
                  <a:srgbClr val="374151"/>
                </a:solidFill>
                <a:latin typeface="Calibri" pitchFamily="34" charset="0"/>
                <a:ea typeface="Calibri" pitchFamily="34" charset="-122"/>
                <a:cs typeface="Calibri" pitchFamily="34" charset="-120"/>
              </a:rPr>
              <a:t>Federal Reserve SHED 2024, n = 12,295 U.S. adults</a:t>
            </a:r>
            <a:endParaRPr lang="en-US" sz="2835" dirty="0"/>
          </a:p>
        </p:txBody>
      </p:sp>
      <p:sp>
        <p:nvSpPr>
          <p:cNvPr id="24" name="Text 21"/>
          <p:cNvSpPr/>
          <p:nvPr/>
        </p:nvSpPr>
        <p:spPr>
          <a:xfrm>
            <a:off x="11603736" y="12537113"/>
            <a:ext cx="10245852" cy="543154"/>
          </a:xfrm>
          <a:prstGeom prst="rect">
            <a:avLst/>
          </a:prstGeom>
          <a:noFill/>
          <a:ln/>
        </p:spPr>
        <p:txBody>
          <a:bodyPr wrap="square" lIns="0" tIns="0" rIns="0" bIns="0" rtlCol="0" anchor="ctr"/>
          <a:lstStyle/>
          <a:p>
            <a:r>
              <a:rPr lang="en-US" sz="2295" b="1" kern="0" spc="540" dirty="0">
                <a:solidFill>
                  <a:srgbClr val="1A2B4A"/>
                </a:solidFill>
                <a:latin typeface="Calibri" pitchFamily="34" charset="0"/>
                <a:ea typeface="Calibri" pitchFamily="34" charset="-122"/>
                <a:cs typeface="Calibri" pitchFamily="34" charset="-120"/>
              </a:rPr>
              <a:t>FIGURE 1: BNPL USE BY AGE BAND (WEIGHTED %)</a:t>
            </a:r>
            <a:endParaRPr lang="en-US" sz="2295" dirty="0"/>
          </a:p>
        </p:txBody>
      </p:sp>
      <p:graphicFrame>
        <p:nvGraphicFramePr>
          <p:cNvPr id="25" name="Chart 0"/>
          <p:cNvGraphicFramePr/>
          <p:nvPr>
            <p:extLst>
              <p:ext uri="{D42A27DB-BD31-4B8C-83A1-F6EECF244321}">
                <p14:modId xmlns:p14="http://schemas.microsoft.com/office/powerpoint/2010/main" val="3338302580"/>
              </p:ext>
            </p:extLst>
          </p:nvPr>
        </p:nvGraphicFramePr>
        <p:xfrm>
          <a:off x="11356848" y="13154333"/>
          <a:ext cx="10616184" cy="2623396"/>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 22"/>
          <p:cNvSpPr/>
          <p:nvPr/>
        </p:nvSpPr>
        <p:spPr>
          <a:xfrm>
            <a:off x="11603736" y="15876484"/>
            <a:ext cx="10245852" cy="444398"/>
          </a:xfrm>
          <a:prstGeom prst="rect">
            <a:avLst/>
          </a:prstGeom>
          <a:noFill/>
          <a:ln/>
        </p:spPr>
        <p:txBody>
          <a:bodyPr wrap="square" lIns="0" tIns="0" rIns="0" bIns="0" rtlCol="0" anchor="t"/>
          <a:lstStyle/>
          <a:p>
            <a:r>
              <a:rPr lang="en-US" sz="2025" i="1" dirty="0">
                <a:solidFill>
                  <a:srgbClr val="6B7280"/>
                </a:solidFill>
                <a:latin typeface="Calibri" pitchFamily="34" charset="0"/>
                <a:ea typeface="Calibri" pitchFamily="34" charset="-122"/>
                <a:cs typeface="Calibri" pitchFamily="34" charset="-120"/>
              </a:rPr>
              <a:t>Source:  Federal Reserve SHED 2024, weighted; group means of BNPL1 = 1.   n = 12,295.</a:t>
            </a:r>
            <a:endParaRPr lang="en-US" sz="2025" dirty="0"/>
          </a:p>
        </p:txBody>
      </p:sp>
      <p:sp>
        <p:nvSpPr>
          <p:cNvPr id="27" name="Text 23"/>
          <p:cNvSpPr/>
          <p:nvPr/>
        </p:nvSpPr>
        <p:spPr>
          <a:xfrm>
            <a:off x="22343364" y="6642873"/>
            <a:ext cx="10245852" cy="691286"/>
          </a:xfrm>
          <a:prstGeom prst="rect">
            <a:avLst/>
          </a:prstGeom>
          <a:noFill/>
          <a:ln/>
        </p:spPr>
        <p:txBody>
          <a:bodyPr wrap="square" lIns="0" tIns="0" rIns="0" bIns="0" rtlCol="0" anchor="ctr"/>
          <a:lstStyle/>
          <a:p>
            <a:r>
              <a:rPr lang="en-US" sz="2700" b="1" kern="0" spc="1080" dirty="0">
                <a:solidFill>
                  <a:srgbClr val="1A2B4A"/>
                </a:solidFill>
                <a:latin typeface="Calibri" pitchFamily="34" charset="0"/>
                <a:ea typeface="Calibri" pitchFamily="34" charset="-122"/>
                <a:cs typeface="Calibri" pitchFamily="34" charset="-120"/>
              </a:rPr>
              <a:t>Our FINDINGS</a:t>
            </a:r>
            <a:endParaRPr lang="en-US" sz="2700" dirty="0"/>
          </a:p>
        </p:txBody>
      </p:sp>
      <p:sp>
        <p:nvSpPr>
          <p:cNvPr id="28" name="Shape 24"/>
          <p:cNvSpPr/>
          <p:nvPr/>
        </p:nvSpPr>
        <p:spPr>
          <a:xfrm>
            <a:off x="22343364" y="7383537"/>
            <a:ext cx="10245852" cy="0"/>
          </a:xfrm>
          <a:prstGeom prst="line">
            <a:avLst/>
          </a:prstGeom>
          <a:noFill/>
          <a:ln w="12700">
            <a:solidFill>
              <a:srgbClr val="C9A961"/>
            </a:solidFill>
            <a:prstDash val="solid"/>
          </a:ln>
        </p:spPr>
        <p:txBody>
          <a:bodyPr/>
          <a:lstStyle/>
          <a:p>
            <a:endParaRPr lang="en-US" sz="13997"/>
          </a:p>
        </p:txBody>
      </p:sp>
      <p:sp>
        <p:nvSpPr>
          <p:cNvPr id="44" name="Shape 40"/>
          <p:cNvSpPr/>
          <p:nvPr/>
        </p:nvSpPr>
        <p:spPr>
          <a:xfrm>
            <a:off x="22336355" y="14197937"/>
            <a:ext cx="10245852" cy="1777594"/>
          </a:xfrm>
          <a:prstGeom prst="rect">
            <a:avLst/>
          </a:prstGeom>
          <a:solidFill>
            <a:srgbClr val="1A2B4A"/>
          </a:solidFill>
          <a:ln w="12700">
            <a:solidFill>
              <a:srgbClr val="1A2B4A"/>
            </a:solidFill>
            <a:prstDash val="solid"/>
          </a:ln>
        </p:spPr>
        <p:txBody>
          <a:bodyPr/>
          <a:lstStyle/>
          <a:p>
            <a:endParaRPr lang="en-US" sz="13997"/>
          </a:p>
        </p:txBody>
      </p:sp>
      <p:sp>
        <p:nvSpPr>
          <p:cNvPr id="45" name="Text 41"/>
          <p:cNvSpPr/>
          <p:nvPr/>
        </p:nvSpPr>
        <p:spPr>
          <a:xfrm>
            <a:off x="22614941" y="14440020"/>
            <a:ext cx="9752076" cy="444398"/>
          </a:xfrm>
          <a:prstGeom prst="rect">
            <a:avLst/>
          </a:prstGeom>
          <a:noFill/>
          <a:ln/>
        </p:spPr>
        <p:txBody>
          <a:bodyPr wrap="square" lIns="0" tIns="0" rIns="0" bIns="0" rtlCol="0" anchor="t"/>
          <a:lstStyle/>
          <a:p>
            <a:r>
              <a:rPr lang="en-US" sz="2025" b="1" kern="0" spc="810" dirty="0">
                <a:solidFill>
                  <a:srgbClr val="C9A961"/>
                </a:solidFill>
                <a:latin typeface="Calibri" pitchFamily="34" charset="0"/>
                <a:ea typeface="Calibri" pitchFamily="34" charset="-122"/>
                <a:cs typeface="Calibri" pitchFamily="34" charset="-120"/>
              </a:rPr>
              <a:t>SUMMARY OBSERVATION</a:t>
            </a:r>
            <a:endParaRPr lang="en-US" sz="2025" dirty="0"/>
          </a:p>
        </p:txBody>
      </p:sp>
      <p:sp>
        <p:nvSpPr>
          <p:cNvPr id="46" name="Text 42"/>
          <p:cNvSpPr/>
          <p:nvPr/>
        </p:nvSpPr>
        <p:spPr>
          <a:xfrm>
            <a:off x="22614941" y="14936174"/>
            <a:ext cx="9752076" cy="1185062"/>
          </a:xfrm>
          <a:prstGeom prst="rect">
            <a:avLst/>
          </a:prstGeom>
          <a:noFill/>
          <a:ln/>
        </p:spPr>
        <p:txBody>
          <a:bodyPr wrap="square" lIns="0" tIns="0" rIns="0" bIns="0" rtlCol="0" anchor="t"/>
          <a:lstStyle/>
          <a:p>
            <a:pPr>
              <a:lnSpc>
                <a:spcPct val="110000"/>
              </a:lnSpc>
            </a:pPr>
            <a:r>
              <a:rPr lang="en-US" sz="2160" i="1" dirty="0">
                <a:solidFill>
                  <a:srgbClr val="FFFFFF"/>
                </a:solidFill>
                <a:latin typeface="Garamond" pitchFamily="34" charset="0"/>
                <a:ea typeface="Garamond" pitchFamily="34" charset="-122"/>
                <a:cs typeface="Garamond" pitchFamily="34" charset="-120"/>
              </a:rPr>
              <a:t>Vulnerability is significantly associated with higher BNPL use — a pattern that persists within demographic subgroups and is consistent across multiple analytical approaches.</a:t>
            </a:r>
            <a:endParaRPr lang="en-US" sz="2160" dirty="0"/>
          </a:p>
        </p:txBody>
      </p:sp>
      <p:sp>
        <p:nvSpPr>
          <p:cNvPr id="68" name="Text 11">
            <a:extLst>
              <a:ext uri="{FF2B5EF4-FFF2-40B4-BE49-F238E27FC236}">
                <a16:creationId xmlns:a16="http://schemas.microsoft.com/office/drawing/2014/main" id="{90E501D6-33DD-C1DB-C78C-3BCE8501A586}"/>
              </a:ext>
            </a:extLst>
          </p:cNvPr>
          <p:cNvSpPr/>
          <p:nvPr/>
        </p:nvSpPr>
        <p:spPr>
          <a:xfrm>
            <a:off x="864108" y="12019869"/>
            <a:ext cx="10245852" cy="3400920"/>
          </a:xfrm>
          <a:prstGeom prst="rect">
            <a:avLst/>
          </a:prstGeom>
          <a:noFill/>
          <a:ln/>
        </p:spPr>
        <p:txBody>
          <a:bodyPr wrap="square" lIns="0" tIns="0" rIns="0" bIns="0" rtlCol="0" anchor="t"/>
          <a:lstStyle/>
          <a:p>
            <a:pPr>
              <a:lnSpc>
                <a:spcPct val="120000"/>
              </a:lnSpc>
              <a:spcAft>
                <a:spcPts val="1080"/>
              </a:spcAft>
            </a:pPr>
            <a:r>
              <a:rPr lang="en-US" sz="2835" b="1" i="1" dirty="0">
                <a:solidFill>
                  <a:srgbClr val="1A2B4A"/>
                </a:solidFill>
                <a:latin typeface="Garamond" pitchFamily="34" charset="0"/>
                <a:ea typeface="Garamond" pitchFamily="34" charset="-122"/>
                <a:cs typeface="Garamond" pitchFamily="34" charset="-120"/>
              </a:rPr>
              <a:t>Regulatory Gap &amp; Risk Downplay</a:t>
            </a:r>
            <a:endParaRPr lang="en-US" sz="2835" dirty="0">
              <a:solidFill>
                <a:srgbClr val="374151"/>
              </a:solidFill>
              <a:latin typeface="Calibri" pitchFamily="34" charset="0"/>
              <a:ea typeface="Calibri" pitchFamily="34" charset="-122"/>
              <a:cs typeface="Calibri" pitchFamily="34" charset="-120"/>
            </a:endParaRPr>
          </a:p>
          <a:p>
            <a:pPr>
              <a:lnSpc>
                <a:spcPct val="120000"/>
              </a:lnSpc>
              <a:spcAft>
                <a:spcPts val="1080"/>
              </a:spcAft>
            </a:pPr>
            <a:r>
              <a:rPr lang="en-US" sz="2835" dirty="0">
                <a:solidFill>
                  <a:srgbClr val="374151"/>
                </a:solidFill>
                <a:latin typeface="Calibri" pitchFamily="34" charset="0"/>
                <a:ea typeface="Calibri" pitchFamily="34" charset="-122"/>
                <a:cs typeface="Calibri" pitchFamily="34" charset="-120"/>
              </a:rPr>
              <a:t>We seek to isolate financial struggle from other factors to understand its correlation with BNPL use. We are investigating whether BNPL companies, which face less regulatory scrutiny than traditional banks, downplay borrowing risks such as missed payment penalties and accrued interest in their social media and marketing campaigns.</a:t>
            </a:r>
            <a:endParaRPr lang="en-US" sz="2835" dirty="0"/>
          </a:p>
        </p:txBody>
      </p:sp>
      <p:graphicFrame>
        <p:nvGraphicFramePr>
          <p:cNvPr id="69" name="Table 68">
            <a:extLst>
              <a:ext uri="{FF2B5EF4-FFF2-40B4-BE49-F238E27FC236}">
                <a16:creationId xmlns:a16="http://schemas.microsoft.com/office/drawing/2014/main" id="{A7C23E86-BE16-D29C-BD8D-89CA5ED71612}"/>
              </a:ext>
            </a:extLst>
          </p:cNvPr>
          <p:cNvGraphicFramePr>
            <a:graphicFrameLocks noGrp="1"/>
          </p:cNvGraphicFramePr>
          <p:nvPr>
            <p:extLst>
              <p:ext uri="{D42A27DB-BD31-4B8C-83A1-F6EECF244321}">
                <p14:modId xmlns:p14="http://schemas.microsoft.com/office/powerpoint/2010/main" val="1515190901"/>
              </p:ext>
            </p:extLst>
          </p:nvPr>
        </p:nvGraphicFramePr>
        <p:xfrm>
          <a:off x="11540642" y="8696720"/>
          <a:ext cx="10245852" cy="3459174"/>
        </p:xfrm>
        <a:graphic>
          <a:graphicData uri="http://schemas.openxmlformats.org/drawingml/2006/table">
            <a:tbl>
              <a:tblPr/>
              <a:tblGrid>
                <a:gridCol w="740664">
                  <a:extLst>
                    <a:ext uri="{9D8B030D-6E8A-4147-A177-3AD203B41FA5}">
                      <a16:colId xmlns:a16="http://schemas.microsoft.com/office/drawing/2014/main" val="2083381306"/>
                    </a:ext>
                  </a:extLst>
                </a:gridCol>
                <a:gridCol w="4073652">
                  <a:extLst>
                    <a:ext uri="{9D8B030D-6E8A-4147-A177-3AD203B41FA5}">
                      <a16:colId xmlns:a16="http://schemas.microsoft.com/office/drawing/2014/main" val="453480870"/>
                    </a:ext>
                  </a:extLst>
                </a:gridCol>
                <a:gridCol w="5431536">
                  <a:extLst>
                    <a:ext uri="{9D8B030D-6E8A-4147-A177-3AD203B41FA5}">
                      <a16:colId xmlns:a16="http://schemas.microsoft.com/office/drawing/2014/main" val="3001422289"/>
                    </a:ext>
                  </a:extLst>
                </a:gridCol>
              </a:tblGrid>
              <a:tr h="567842">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solidFill>
                      <a:srgbClr val="1A2B4A"/>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METHOD</a:t>
                      </a:r>
                      <a:endParaRPr lang="en-US" sz="24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solidFill>
                      <a:srgbClr val="1A2B4A"/>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SUB-QUESTION</a:t>
                      </a:r>
                      <a:endParaRPr lang="en-US" sz="24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solidFill>
                      <a:srgbClr val="1A2B4A"/>
                    </a:solidFill>
                  </a:tcPr>
                </a:tc>
                <a:extLst>
                  <a:ext uri="{0D108BD9-81ED-4DB2-BD59-A6C34878D82A}">
                    <a16:rowId xmlns:a16="http://schemas.microsoft.com/office/drawing/2014/main" val="2053078670"/>
                  </a:ext>
                </a:extLst>
              </a:tr>
              <a:tr h="877824">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tcPr>
                </a:tc>
                <a:tc>
                  <a:txBody>
                    <a:bodyPr/>
                    <a:lstStyle/>
                    <a:p>
                      <a:pPr marL="0" indent="0">
                        <a:buNone/>
                      </a:pPr>
                      <a:r>
                        <a:rPr lang="en-US" sz="2400" dirty="0">
                          <a:solidFill>
                            <a:srgbClr val="1F2937"/>
                          </a:solidFill>
                          <a:latin typeface="Calibri" pitchFamily="34" charset="0"/>
                          <a:ea typeface="Calibri" charset="0"/>
                          <a:cs typeface="Calibri" pitchFamily="34" charset="-120"/>
                        </a:rPr>
                        <a:t>Weighted comparison + chi-square test</a:t>
                      </a:r>
                      <a:endParaRPr lang="en-US" sz="24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tcPr>
                </a:tc>
                <a:tc>
                  <a:txBody>
                    <a:bodyPr/>
                    <a:lstStyle/>
                    <a:p>
                      <a:pPr marL="0" indent="0">
                        <a:buNone/>
                      </a:pPr>
                      <a:r>
                        <a:rPr lang="en-US" sz="2200" i="1" dirty="0">
                          <a:solidFill>
                            <a:srgbClr val="374151"/>
                          </a:solidFill>
                          <a:latin typeface="Calibri" pitchFamily="34" charset="0"/>
                          <a:ea typeface="Calibri" pitchFamily="34" charset="-122"/>
                          <a:cs typeface="Calibri" pitchFamily="34" charset="-120"/>
                        </a:rPr>
                        <a:t>Does BNPL use vary across groups?</a:t>
                      </a:r>
                      <a:endParaRPr lang="en-US" sz="22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tcPr>
                </a:tc>
                <a:extLst>
                  <a:ext uri="{0D108BD9-81ED-4DB2-BD59-A6C34878D82A}">
                    <a16:rowId xmlns:a16="http://schemas.microsoft.com/office/drawing/2014/main" val="2007618825"/>
                  </a:ext>
                </a:extLst>
              </a:tr>
              <a:tr h="567842">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2</a:t>
                      </a:r>
                      <a:endParaRPr lang="en-US" sz="24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solidFill>
                      <a:srgbClr val="F7F5F0"/>
                    </a:solidFill>
                  </a:tcPr>
                </a:tc>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Weighted PCA</a:t>
                      </a:r>
                      <a:endParaRPr lang="en-US" sz="24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solidFill>
                      <a:srgbClr val="F7F5F0"/>
                    </a:solidFill>
                  </a:tcPr>
                </a:tc>
                <a:tc>
                  <a:txBody>
                    <a:bodyPr/>
                    <a:lstStyle/>
                    <a:p>
                      <a:pPr marL="0" indent="0">
                        <a:buNone/>
                      </a:pPr>
                      <a:r>
                        <a:rPr lang="en-US" sz="2200" i="1" dirty="0">
                          <a:solidFill>
                            <a:srgbClr val="374151"/>
                          </a:solidFill>
                          <a:latin typeface="Calibri" pitchFamily="34" charset="0"/>
                          <a:ea typeface="Calibri" pitchFamily="34" charset="-122"/>
                          <a:cs typeface="Calibri" pitchFamily="34" charset="-120"/>
                        </a:rPr>
                        <a:t>Build coherent fragility composite</a:t>
                      </a:r>
                      <a:endParaRPr lang="en-US" sz="22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solidFill>
                      <a:srgbClr val="F7F5F0"/>
                    </a:solidFill>
                  </a:tcPr>
                </a:tc>
                <a:extLst>
                  <a:ext uri="{0D108BD9-81ED-4DB2-BD59-A6C34878D82A}">
                    <a16:rowId xmlns:a16="http://schemas.microsoft.com/office/drawing/2014/main" val="2735969093"/>
                  </a:ext>
                </a:extLst>
              </a:tr>
              <a:tr h="567842">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3</a:t>
                      </a:r>
                      <a:endParaRPr lang="en-US" sz="24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tcPr>
                </a:tc>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WLS multiple regression (OLS)</a:t>
                      </a:r>
                      <a:endParaRPr lang="en-US" sz="24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tcPr>
                </a:tc>
                <a:tc>
                  <a:txBody>
                    <a:bodyPr/>
                    <a:lstStyle/>
                    <a:p>
                      <a:pPr marL="0" indent="0">
                        <a:buNone/>
                      </a:pPr>
                      <a:r>
                        <a:rPr lang="en-US" sz="2200" i="1" dirty="0">
                          <a:solidFill>
                            <a:srgbClr val="374151"/>
                          </a:solidFill>
                          <a:latin typeface="Calibri" pitchFamily="34" charset="0"/>
                          <a:ea typeface="Calibri" pitchFamily="34" charset="-122"/>
                          <a:cs typeface="Calibri" pitchFamily="34" charset="-120"/>
                        </a:rPr>
                        <a:t>Does vulnerability survive controls?</a:t>
                      </a:r>
                      <a:endParaRPr lang="en-US" sz="22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tcPr>
                </a:tc>
                <a:extLst>
                  <a:ext uri="{0D108BD9-81ED-4DB2-BD59-A6C34878D82A}">
                    <a16:rowId xmlns:a16="http://schemas.microsoft.com/office/drawing/2014/main" val="1838075300"/>
                  </a:ext>
                </a:extLst>
              </a:tr>
              <a:tr h="877824">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4</a:t>
                      </a:r>
                      <a:endParaRPr lang="en-US" sz="24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solidFill>
                      <a:srgbClr val="F7F5F0"/>
                    </a:solidFill>
                  </a:tcPr>
                </a:tc>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Stratified subgroup comparison</a:t>
                      </a:r>
                      <a:endParaRPr lang="en-US" sz="24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solidFill>
                      <a:srgbClr val="F7F5F0"/>
                    </a:solidFill>
                  </a:tcPr>
                </a:tc>
                <a:tc>
                  <a:txBody>
                    <a:bodyPr/>
                    <a:lstStyle/>
                    <a:p>
                      <a:pPr marL="0" indent="0">
                        <a:buNone/>
                      </a:pPr>
                      <a:r>
                        <a:rPr lang="en-US" sz="2200" i="1" dirty="0">
                          <a:solidFill>
                            <a:srgbClr val="374151"/>
                          </a:solidFill>
                          <a:latin typeface="Calibri" pitchFamily="34" charset="0"/>
                          <a:ea typeface="Calibri" pitchFamily="34" charset="-122"/>
                          <a:cs typeface="Calibri" pitchFamily="34" charset="-120"/>
                        </a:rPr>
                        <a:t>Does gap persist within demographic cells?</a:t>
                      </a:r>
                      <a:endParaRPr lang="en-US" sz="2200" dirty="0">
                        <a:latin typeface="Calibri" charset="0"/>
                        <a:ea typeface="Calibri" charset="0"/>
                        <a:cs typeface="Calibri" charset="0"/>
                      </a:endParaRPr>
                    </a:p>
                  </a:txBody>
                  <a:tcPr marL="68580" marR="68580" marT="68580" marB="68580" anchor="ctr">
                    <a:lnL w="6350" cap="flat" cmpd="sng" algn="ctr">
                      <a:solidFill>
                        <a:srgbClr val="D9D5CC"/>
                      </a:solidFill>
                      <a:prstDash val="solid"/>
                      <a:round/>
                      <a:headEnd type="none" w="med" len="med"/>
                      <a:tailEnd type="none" w="med" len="med"/>
                    </a:lnL>
                    <a:lnR w="6350" cap="flat" cmpd="sng" algn="ctr">
                      <a:solidFill>
                        <a:srgbClr val="D9D5CC"/>
                      </a:solidFill>
                      <a:prstDash val="solid"/>
                      <a:round/>
                      <a:headEnd type="none" w="med" len="med"/>
                      <a:tailEnd type="none" w="med" len="med"/>
                    </a:lnR>
                    <a:lnT w="6350" cap="flat" cmpd="sng" algn="ctr">
                      <a:solidFill>
                        <a:srgbClr val="D9D5CC"/>
                      </a:solidFill>
                      <a:prstDash val="solid"/>
                      <a:round/>
                      <a:headEnd type="none" w="med" len="med"/>
                      <a:tailEnd type="none" w="med" len="med"/>
                    </a:lnT>
                    <a:lnB w="6350" cap="flat" cmpd="sng" algn="ctr">
                      <a:solidFill>
                        <a:srgbClr val="D9D5CC"/>
                      </a:solidFill>
                      <a:prstDash val="solid"/>
                      <a:round/>
                      <a:headEnd type="none" w="med" len="med"/>
                      <a:tailEnd type="none" w="med" len="med"/>
                    </a:lnB>
                    <a:solidFill>
                      <a:srgbClr val="F7F5F0"/>
                    </a:solidFill>
                  </a:tcPr>
                </a:tc>
                <a:extLst>
                  <a:ext uri="{0D108BD9-81ED-4DB2-BD59-A6C34878D82A}">
                    <a16:rowId xmlns:a16="http://schemas.microsoft.com/office/drawing/2014/main" val="1316658755"/>
                  </a:ext>
                </a:extLst>
              </a:tr>
            </a:tbl>
          </a:graphicData>
        </a:graphic>
      </p:graphicFrame>
      <p:sp>
        <p:nvSpPr>
          <p:cNvPr id="70" name="Shape 49">
            <a:extLst>
              <a:ext uri="{FF2B5EF4-FFF2-40B4-BE49-F238E27FC236}">
                <a16:creationId xmlns:a16="http://schemas.microsoft.com/office/drawing/2014/main" id="{2C72AC19-65AC-884C-8FDD-02D064C85A56}"/>
              </a:ext>
            </a:extLst>
          </p:cNvPr>
          <p:cNvSpPr/>
          <p:nvPr/>
        </p:nvSpPr>
        <p:spPr>
          <a:xfrm>
            <a:off x="617220" y="16774827"/>
            <a:ext cx="31107888" cy="0"/>
          </a:xfrm>
          <a:prstGeom prst="line">
            <a:avLst/>
          </a:prstGeom>
          <a:noFill/>
          <a:ln w="9525">
            <a:solidFill>
              <a:srgbClr val="1A2B4A"/>
            </a:solidFill>
            <a:prstDash val="solid"/>
          </a:ln>
        </p:spPr>
        <p:txBody>
          <a:bodyPr/>
          <a:lstStyle/>
          <a:p>
            <a:endParaRPr lang="en-US" sz="13997"/>
          </a:p>
        </p:txBody>
      </p:sp>
      <p:sp>
        <p:nvSpPr>
          <p:cNvPr id="71" name="Shape 50">
            <a:extLst>
              <a:ext uri="{FF2B5EF4-FFF2-40B4-BE49-F238E27FC236}">
                <a16:creationId xmlns:a16="http://schemas.microsoft.com/office/drawing/2014/main" id="{43FD1992-BFFC-C57A-A35A-521094100AB4}"/>
              </a:ext>
            </a:extLst>
          </p:cNvPr>
          <p:cNvSpPr/>
          <p:nvPr/>
        </p:nvSpPr>
        <p:spPr>
          <a:xfrm>
            <a:off x="617220" y="16898271"/>
            <a:ext cx="31107888" cy="0"/>
          </a:xfrm>
          <a:prstGeom prst="line">
            <a:avLst/>
          </a:prstGeom>
          <a:noFill/>
          <a:ln w="6350">
            <a:solidFill>
              <a:srgbClr val="C9A961"/>
            </a:solidFill>
            <a:prstDash val="solid"/>
          </a:ln>
        </p:spPr>
        <p:txBody>
          <a:bodyPr/>
          <a:lstStyle/>
          <a:p>
            <a:endParaRPr lang="en-US" sz="13997"/>
          </a:p>
        </p:txBody>
      </p:sp>
      <p:sp>
        <p:nvSpPr>
          <p:cNvPr id="72" name="Text 51">
            <a:extLst>
              <a:ext uri="{FF2B5EF4-FFF2-40B4-BE49-F238E27FC236}">
                <a16:creationId xmlns:a16="http://schemas.microsoft.com/office/drawing/2014/main" id="{EF0F510E-58D1-80B6-C631-34A2AD23EC2B}"/>
              </a:ext>
            </a:extLst>
          </p:cNvPr>
          <p:cNvSpPr/>
          <p:nvPr/>
        </p:nvSpPr>
        <p:spPr>
          <a:xfrm>
            <a:off x="617220" y="17021715"/>
            <a:ext cx="31107888" cy="444398"/>
          </a:xfrm>
          <a:prstGeom prst="rect">
            <a:avLst/>
          </a:prstGeom>
          <a:noFill/>
          <a:ln/>
        </p:spPr>
        <p:txBody>
          <a:bodyPr wrap="square" lIns="0" tIns="0" rIns="0" bIns="0" rtlCol="0" anchor="ctr"/>
          <a:lstStyle/>
          <a:p>
            <a:r>
              <a:rPr lang="en-US" sz="2430" b="1" kern="0" spc="1080" dirty="0">
                <a:solidFill>
                  <a:srgbClr val="1A2B4A"/>
                </a:solidFill>
                <a:latin typeface="Calibri" pitchFamily="34" charset="0"/>
                <a:ea typeface="Calibri" pitchFamily="34" charset="-122"/>
                <a:cs typeface="Calibri" pitchFamily="34" charset="-120"/>
              </a:rPr>
              <a:t>II.  Our Finding from BNPL MARKETING Contents</a:t>
            </a:r>
            <a:endParaRPr lang="en-US" sz="2430" dirty="0"/>
          </a:p>
        </p:txBody>
      </p:sp>
      <p:sp>
        <p:nvSpPr>
          <p:cNvPr id="73" name="Shape 52">
            <a:extLst>
              <a:ext uri="{FF2B5EF4-FFF2-40B4-BE49-F238E27FC236}">
                <a16:creationId xmlns:a16="http://schemas.microsoft.com/office/drawing/2014/main" id="{4DA39BDF-BBD6-C339-90F3-F2A794E98365}"/>
              </a:ext>
            </a:extLst>
          </p:cNvPr>
          <p:cNvSpPr/>
          <p:nvPr/>
        </p:nvSpPr>
        <p:spPr>
          <a:xfrm>
            <a:off x="617220" y="17564868"/>
            <a:ext cx="15307056" cy="2518258"/>
          </a:xfrm>
          <a:prstGeom prst="rect">
            <a:avLst/>
          </a:prstGeom>
          <a:solidFill>
            <a:srgbClr val="F5F2EB"/>
          </a:solidFill>
          <a:ln w="6350">
            <a:solidFill>
              <a:srgbClr val="D9D5CC"/>
            </a:solidFill>
            <a:prstDash val="solid"/>
          </a:ln>
        </p:spPr>
        <p:txBody>
          <a:bodyPr/>
          <a:lstStyle/>
          <a:p>
            <a:endParaRPr lang="en-US" sz="13997"/>
          </a:p>
        </p:txBody>
      </p:sp>
      <p:sp>
        <p:nvSpPr>
          <p:cNvPr id="74" name="Shape 53">
            <a:extLst>
              <a:ext uri="{FF2B5EF4-FFF2-40B4-BE49-F238E27FC236}">
                <a16:creationId xmlns:a16="http://schemas.microsoft.com/office/drawing/2014/main" id="{E36B5A8E-B147-6942-1377-A0A4AA3ED200}"/>
              </a:ext>
            </a:extLst>
          </p:cNvPr>
          <p:cNvSpPr/>
          <p:nvPr/>
        </p:nvSpPr>
        <p:spPr>
          <a:xfrm>
            <a:off x="617220" y="17564868"/>
            <a:ext cx="197510" cy="2493569"/>
          </a:xfrm>
          <a:prstGeom prst="rect">
            <a:avLst/>
          </a:prstGeom>
          <a:solidFill>
            <a:srgbClr val="8B1A1A"/>
          </a:solidFill>
          <a:ln w="12700">
            <a:solidFill>
              <a:srgbClr val="8B1A1A"/>
            </a:solidFill>
            <a:prstDash val="solid"/>
          </a:ln>
        </p:spPr>
        <p:txBody>
          <a:bodyPr/>
          <a:lstStyle/>
          <a:p>
            <a:endParaRPr lang="en-US" sz="13997"/>
          </a:p>
        </p:txBody>
      </p:sp>
      <p:sp>
        <p:nvSpPr>
          <p:cNvPr id="75" name="Text 54">
            <a:extLst>
              <a:ext uri="{FF2B5EF4-FFF2-40B4-BE49-F238E27FC236}">
                <a16:creationId xmlns:a16="http://schemas.microsoft.com/office/drawing/2014/main" id="{3C7969A8-B317-A81E-8B9E-E71FDE663ED0}"/>
              </a:ext>
            </a:extLst>
          </p:cNvPr>
          <p:cNvSpPr/>
          <p:nvPr/>
        </p:nvSpPr>
        <p:spPr>
          <a:xfrm>
            <a:off x="962863" y="17688313"/>
            <a:ext cx="14813280" cy="444398"/>
          </a:xfrm>
          <a:prstGeom prst="rect">
            <a:avLst/>
          </a:prstGeom>
          <a:noFill/>
          <a:ln/>
        </p:spPr>
        <p:txBody>
          <a:bodyPr wrap="square" lIns="0" tIns="0" rIns="0" bIns="0" rtlCol="0" anchor="t"/>
          <a:lstStyle/>
          <a:p>
            <a:r>
              <a:rPr lang="en-US" sz="2160" b="1" kern="0" spc="405" dirty="0">
                <a:solidFill>
                  <a:srgbClr val="1A2B4A"/>
                </a:solidFill>
                <a:latin typeface="Calibri" pitchFamily="34" charset="0"/>
                <a:ea typeface="Calibri" pitchFamily="34" charset="-122"/>
                <a:cs typeface="Calibri" pitchFamily="34" charset="-120"/>
              </a:rPr>
              <a:t>FINDING 1 — HOMEPAGE Marketing IS MORE POSITIVE THAN DISCLOSURE PAGES</a:t>
            </a:r>
            <a:endParaRPr lang="en-US" sz="2160" dirty="0"/>
          </a:p>
        </p:txBody>
      </p:sp>
      <p:sp>
        <p:nvSpPr>
          <p:cNvPr id="76" name="Text 55">
            <a:extLst>
              <a:ext uri="{FF2B5EF4-FFF2-40B4-BE49-F238E27FC236}">
                <a16:creationId xmlns:a16="http://schemas.microsoft.com/office/drawing/2014/main" id="{5C82375E-ECAD-884B-FC11-B53A6F645926}"/>
              </a:ext>
            </a:extLst>
          </p:cNvPr>
          <p:cNvSpPr/>
          <p:nvPr/>
        </p:nvSpPr>
        <p:spPr>
          <a:xfrm>
            <a:off x="962863" y="18182088"/>
            <a:ext cx="14813280" cy="1999793"/>
          </a:xfrm>
          <a:prstGeom prst="rect">
            <a:avLst/>
          </a:prstGeom>
          <a:noFill/>
          <a:ln/>
        </p:spPr>
        <p:txBody>
          <a:bodyPr wrap="square" lIns="0" tIns="0" rIns="0" bIns="0" rtlCol="0" anchor="t"/>
          <a:lstStyle/>
          <a:p>
            <a:pPr>
              <a:lnSpc>
                <a:spcPct val="112000"/>
              </a:lnSpc>
            </a:pPr>
            <a:r>
              <a:rPr lang="en-US" sz="2430" dirty="0">
                <a:solidFill>
                  <a:srgbClr val="374151"/>
                </a:solidFill>
                <a:latin typeface="Calibri" pitchFamily="34" charset="0"/>
                <a:ea typeface="Calibri" pitchFamily="34" charset="-122"/>
                <a:cs typeface="Calibri" pitchFamily="34" charset="-120"/>
              </a:rPr>
              <a:t>We find that </a:t>
            </a:r>
            <a:r>
              <a:rPr lang="en-US" sz="2430" b="1" dirty="0">
                <a:solidFill>
                  <a:srgbClr val="1F2937"/>
                </a:solidFill>
                <a:latin typeface="Calibri" pitchFamily="34" charset="0"/>
                <a:ea typeface="Calibri" pitchFamily="34" charset="-122"/>
                <a:cs typeface="Calibri" pitchFamily="34" charset="-120"/>
              </a:rPr>
              <a:t>homepage marketing contents are significantly more positive in their tone than FAQ pages, </a:t>
            </a:r>
            <a:r>
              <a:rPr lang="en-US" sz="2430" dirty="0">
                <a:solidFill>
                  <a:srgbClr val="1F2937"/>
                </a:solidFill>
                <a:latin typeface="Calibri" pitchFamily="34" charset="0"/>
                <a:ea typeface="Calibri" pitchFamily="34" charset="-122"/>
                <a:cs typeface="Calibri" pitchFamily="34" charset="-120"/>
              </a:rPr>
              <a:t>which provide </a:t>
            </a:r>
            <a:r>
              <a:rPr lang="en-US" sz="2430" dirty="0">
                <a:solidFill>
                  <a:srgbClr val="374151"/>
                </a:solidFill>
                <a:latin typeface="Calibri" pitchFamily="34" charset="0"/>
                <a:ea typeface="Calibri" pitchFamily="34" charset="-122"/>
                <a:cs typeface="Calibri" pitchFamily="34" charset="-120"/>
              </a:rPr>
              <a:t>risk disclosures. The primary consumer checkpoint is warmer and more uplifting in tone than pages containing borrowing terms. We also find that </a:t>
            </a:r>
            <a:r>
              <a:rPr lang="en-US" sz="2430" b="1" dirty="0">
                <a:solidFill>
                  <a:srgbClr val="1F2937"/>
                </a:solidFill>
                <a:latin typeface="Calibri" pitchFamily="34" charset="0"/>
                <a:ea typeface="Calibri" pitchFamily="34" charset="-122"/>
                <a:cs typeface="Calibri" pitchFamily="34" charset="-120"/>
              </a:rPr>
              <a:t>only 17% of homepage text contents contain any risk-disclosing keyword. </a:t>
            </a:r>
            <a:r>
              <a:rPr lang="en-US" sz="2430" dirty="0">
                <a:solidFill>
                  <a:srgbClr val="1F2937"/>
                </a:solidFill>
                <a:latin typeface="Calibri" pitchFamily="34" charset="0"/>
                <a:ea typeface="Calibri" pitchFamily="34" charset="-122"/>
                <a:cs typeface="Calibri" pitchFamily="34" charset="-120"/>
              </a:rPr>
              <a:t>This</a:t>
            </a:r>
            <a:r>
              <a:rPr lang="en-US" sz="2430" dirty="0">
                <a:solidFill>
                  <a:srgbClr val="374151"/>
                </a:solidFill>
                <a:latin typeface="Calibri" pitchFamily="34" charset="0"/>
                <a:ea typeface="Calibri" pitchFamily="34" charset="-122"/>
                <a:cs typeface="Calibri" pitchFamily="34" charset="-120"/>
              </a:rPr>
              <a:t> means that risk language is structurally buried than being communicated upfront.</a:t>
            </a:r>
            <a:endParaRPr lang="en-US" sz="2430" dirty="0"/>
          </a:p>
        </p:txBody>
      </p:sp>
      <p:sp>
        <p:nvSpPr>
          <p:cNvPr id="77" name="Shape 56">
            <a:extLst>
              <a:ext uri="{FF2B5EF4-FFF2-40B4-BE49-F238E27FC236}">
                <a16:creationId xmlns:a16="http://schemas.microsoft.com/office/drawing/2014/main" id="{5A7B5705-4758-A5A5-9AB0-3180BE9F26A3}"/>
              </a:ext>
            </a:extLst>
          </p:cNvPr>
          <p:cNvSpPr/>
          <p:nvPr/>
        </p:nvSpPr>
        <p:spPr>
          <a:xfrm>
            <a:off x="16418052" y="17564868"/>
            <a:ext cx="15307056" cy="2518258"/>
          </a:xfrm>
          <a:prstGeom prst="rect">
            <a:avLst/>
          </a:prstGeom>
          <a:solidFill>
            <a:srgbClr val="F5F2EB"/>
          </a:solidFill>
          <a:ln w="6350">
            <a:solidFill>
              <a:srgbClr val="D9D5CC"/>
            </a:solidFill>
            <a:prstDash val="solid"/>
          </a:ln>
        </p:spPr>
        <p:txBody>
          <a:bodyPr/>
          <a:lstStyle/>
          <a:p>
            <a:endParaRPr lang="en-US" sz="13997" dirty="0"/>
          </a:p>
        </p:txBody>
      </p:sp>
      <p:sp>
        <p:nvSpPr>
          <p:cNvPr id="78" name="Shape 57">
            <a:extLst>
              <a:ext uri="{FF2B5EF4-FFF2-40B4-BE49-F238E27FC236}">
                <a16:creationId xmlns:a16="http://schemas.microsoft.com/office/drawing/2014/main" id="{1C67B57D-3EA9-EB23-5B41-01715FF978F4}"/>
              </a:ext>
            </a:extLst>
          </p:cNvPr>
          <p:cNvSpPr/>
          <p:nvPr/>
        </p:nvSpPr>
        <p:spPr>
          <a:xfrm>
            <a:off x="16418054" y="17564868"/>
            <a:ext cx="123441" cy="2493569"/>
          </a:xfrm>
          <a:prstGeom prst="rect">
            <a:avLst/>
          </a:prstGeom>
          <a:solidFill>
            <a:srgbClr val="8B1A1A"/>
          </a:solidFill>
          <a:ln w="12700">
            <a:solidFill>
              <a:srgbClr val="8B1A1A"/>
            </a:solidFill>
            <a:prstDash val="solid"/>
          </a:ln>
        </p:spPr>
        <p:txBody>
          <a:bodyPr/>
          <a:lstStyle/>
          <a:p>
            <a:endParaRPr lang="en-US" sz="13997"/>
          </a:p>
        </p:txBody>
      </p:sp>
      <p:sp>
        <p:nvSpPr>
          <p:cNvPr id="79" name="Text 58">
            <a:extLst>
              <a:ext uri="{FF2B5EF4-FFF2-40B4-BE49-F238E27FC236}">
                <a16:creationId xmlns:a16="http://schemas.microsoft.com/office/drawing/2014/main" id="{9DB6F45B-FFFF-C9F4-F3E7-EE6D1CA54EC1}"/>
              </a:ext>
            </a:extLst>
          </p:cNvPr>
          <p:cNvSpPr/>
          <p:nvPr/>
        </p:nvSpPr>
        <p:spPr>
          <a:xfrm>
            <a:off x="16763695" y="17688313"/>
            <a:ext cx="14813280" cy="444398"/>
          </a:xfrm>
          <a:prstGeom prst="rect">
            <a:avLst/>
          </a:prstGeom>
          <a:noFill/>
          <a:ln/>
        </p:spPr>
        <p:txBody>
          <a:bodyPr wrap="square" lIns="0" tIns="0" rIns="0" bIns="0" rtlCol="0" anchor="t"/>
          <a:lstStyle/>
          <a:p>
            <a:r>
              <a:rPr lang="en-US" sz="2160" b="1" kern="0" spc="405" dirty="0">
                <a:solidFill>
                  <a:srgbClr val="1A2B4A"/>
                </a:solidFill>
                <a:latin typeface="Calibri" pitchFamily="34" charset="0"/>
                <a:ea typeface="Calibri" pitchFamily="34" charset="-122"/>
                <a:cs typeface="Calibri" pitchFamily="34" charset="-120"/>
              </a:rPr>
              <a:t>FINDING 2 — PROVIDERS WITH MORE URGENCY-HEAVY COPY SHOW HIGHER CFPB COMPLAINT RATES</a:t>
            </a:r>
            <a:endParaRPr lang="en-US" sz="2160" dirty="0"/>
          </a:p>
        </p:txBody>
      </p:sp>
      <p:sp>
        <p:nvSpPr>
          <p:cNvPr id="80" name="Text 59">
            <a:extLst>
              <a:ext uri="{FF2B5EF4-FFF2-40B4-BE49-F238E27FC236}">
                <a16:creationId xmlns:a16="http://schemas.microsoft.com/office/drawing/2014/main" id="{E4C1FD77-118C-8790-8209-09CD91029E45}"/>
              </a:ext>
            </a:extLst>
          </p:cNvPr>
          <p:cNvSpPr/>
          <p:nvPr/>
        </p:nvSpPr>
        <p:spPr>
          <a:xfrm>
            <a:off x="16763695" y="18338464"/>
            <a:ext cx="14813280" cy="1999793"/>
          </a:xfrm>
          <a:prstGeom prst="rect">
            <a:avLst/>
          </a:prstGeom>
          <a:noFill/>
          <a:ln/>
        </p:spPr>
        <p:txBody>
          <a:bodyPr wrap="square" lIns="0" tIns="0" rIns="0" bIns="0" rtlCol="0" anchor="t"/>
          <a:lstStyle/>
          <a:p>
            <a:pPr>
              <a:lnSpc>
                <a:spcPct val="112000"/>
              </a:lnSpc>
            </a:pPr>
            <a:r>
              <a:rPr lang="en-US" sz="2430" dirty="0">
                <a:solidFill>
                  <a:srgbClr val="374151"/>
                </a:solidFill>
                <a:latin typeface="Calibri" pitchFamily="34" charset="0"/>
                <a:ea typeface="Calibri" pitchFamily="34" charset="-122"/>
                <a:cs typeface="Calibri" pitchFamily="34" charset="-120"/>
              </a:rPr>
              <a:t>We cross-referenced marketing text against 49,140 CFPB consumer complaints and find that </a:t>
            </a:r>
            <a:r>
              <a:rPr lang="en-US" sz="2430" b="1" dirty="0">
                <a:solidFill>
                  <a:srgbClr val="1F2937"/>
                </a:solidFill>
                <a:latin typeface="Calibri" pitchFamily="34" charset="0"/>
                <a:ea typeface="Calibri" pitchFamily="34" charset="-122"/>
                <a:cs typeface="Calibri" pitchFamily="34" charset="-120"/>
              </a:rPr>
              <a:t>companies with more urgency-heavy marketing tend to show higher rates of complaints. </a:t>
            </a:r>
            <a:r>
              <a:rPr lang="en-US" sz="2430" dirty="0">
                <a:solidFill>
                  <a:srgbClr val="374151"/>
                </a:solidFill>
                <a:latin typeface="Calibri" pitchFamily="34" charset="0"/>
                <a:ea typeface="Calibri" pitchFamily="34" charset="-122"/>
                <a:cs typeface="Calibri" pitchFamily="34" charset="-120"/>
              </a:rPr>
              <a:t>The complaints are flagged as being deceptive or misleading, with criticism ranging from hidden fees, unexpected late fees, and misleading advertising. We find this as a consistent pattern among major U.S. BNPL providers rather than an occasional statistical finding. </a:t>
            </a:r>
            <a:endParaRPr lang="en-US" sz="2430" dirty="0"/>
          </a:p>
        </p:txBody>
      </p:sp>
      <p:sp>
        <p:nvSpPr>
          <p:cNvPr id="82" name="TextBox 81">
            <a:extLst>
              <a:ext uri="{FF2B5EF4-FFF2-40B4-BE49-F238E27FC236}">
                <a16:creationId xmlns:a16="http://schemas.microsoft.com/office/drawing/2014/main" id="{D2DF9F98-63A8-F4F5-5AF4-9715F0796B8C}"/>
              </a:ext>
            </a:extLst>
          </p:cNvPr>
          <p:cNvSpPr txBox="1"/>
          <p:nvPr/>
        </p:nvSpPr>
        <p:spPr>
          <a:xfrm>
            <a:off x="27634997" y="3229223"/>
            <a:ext cx="4419295" cy="424732"/>
          </a:xfrm>
          <a:prstGeom prst="rect">
            <a:avLst/>
          </a:prstGeom>
          <a:noFill/>
        </p:spPr>
        <p:txBody>
          <a:bodyPr wrap="square" rtlCol="0">
            <a:spAutoFit/>
          </a:bodyPr>
          <a:lstStyle/>
          <a:p>
            <a:r>
              <a:rPr lang="en-US" sz="2160" dirty="0"/>
              <a:t>Max Linton, Charlie Yang, Alvin He</a:t>
            </a:r>
          </a:p>
        </p:txBody>
      </p:sp>
      <p:sp>
        <p:nvSpPr>
          <p:cNvPr id="132" name="Shape 30">
            <a:extLst>
              <a:ext uri="{FF2B5EF4-FFF2-40B4-BE49-F238E27FC236}">
                <a16:creationId xmlns:a16="http://schemas.microsoft.com/office/drawing/2014/main" id="{D4FA8991-4A9C-54DE-AADA-DDF7F3286CC6}"/>
              </a:ext>
            </a:extLst>
          </p:cNvPr>
          <p:cNvSpPr/>
          <p:nvPr/>
        </p:nvSpPr>
        <p:spPr>
          <a:xfrm>
            <a:off x="22343364" y="7630425"/>
            <a:ext cx="10245852" cy="0"/>
          </a:xfrm>
          <a:prstGeom prst="line">
            <a:avLst/>
          </a:prstGeom>
          <a:noFill/>
          <a:ln w="12700">
            <a:solidFill>
              <a:srgbClr val="C9A961"/>
            </a:solidFill>
            <a:prstDash val="solid"/>
          </a:ln>
        </p:spPr>
        <p:txBody>
          <a:bodyPr/>
          <a:lstStyle/>
          <a:p>
            <a:endParaRPr lang="en-US" sz="13997"/>
          </a:p>
        </p:txBody>
      </p:sp>
      <p:sp>
        <p:nvSpPr>
          <p:cNvPr id="133" name="Shape 31">
            <a:extLst>
              <a:ext uri="{FF2B5EF4-FFF2-40B4-BE49-F238E27FC236}">
                <a16:creationId xmlns:a16="http://schemas.microsoft.com/office/drawing/2014/main" id="{C9B7DEFC-0A77-3EA0-6232-E0B78BA5331D}"/>
              </a:ext>
            </a:extLst>
          </p:cNvPr>
          <p:cNvSpPr/>
          <p:nvPr/>
        </p:nvSpPr>
        <p:spPr>
          <a:xfrm>
            <a:off x="22343364" y="7827936"/>
            <a:ext cx="10245852" cy="2084702"/>
          </a:xfrm>
          <a:prstGeom prst="rect">
            <a:avLst/>
          </a:prstGeom>
          <a:solidFill>
            <a:srgbClr val="F5F2EB"/>
          </a:solidFill>
          <a:ln w="6350">
            <a:solidFill>
              <a:srgbClr val="D9D5CC"/>
            </a:solidFill>
            <a:prstDash val="solid"/>
          </a:ln>
        </p:spPr>
        <p:txBody>
          <a:bodyPr/>
          <a:lstStyle/>
          <a:p>
            <a:endParaRPr lang="en-US" sz="13997"/>
          </a:p>
        </p:txBody>
      </p:sp>
      <p:sp>
        <p:nvSpPr>
          <p:cNvPr id="134" name="Shape 32">
            <a:extLst>
              <a:ext uri="{FF2B5EF4-FFF2-40B4-BE49-F238E27FC236}">
                <a16:creationId xmlns:a16="http://schemas.microsoft.com/office/drawing/2014/main" id="{02535C76-22E0-1E56-2F1E-45B43257CCB7}"/>
              </a:ext>
            </a:extLst>
          </p:cNvPr>
          <p:cNvSpPr/>
          <p:nvPr/>
        </p:nvSpPr>
        <p:spPr>
          <a:xfrm>
            <a:off x="22343364" y="7827936"/>
            <a:ext cx="148133" cy="2172614"/>
          </a:xfrm>
          <a:prstGeom prst="rect">
            <a:avLst/>
          </a:prstGeom>
          <a:solidFill>
            <a:srgbClr val="8B1A1A"/>
          </a:solidFill>
          <a:ln w="12700">
            <a:solidFill>
              <a:srgbClr val="8B1A1A"/>
            </a:solidFill>
            <a:prstDash val="solid"/>
          </a:ln>
        </p:spPr>
        <p:txBody>
          <a:bodyPr/>
          <a:lstStyle/>
          <a:p>
            <a:endParaRPr lang="en-US" sz="13997"/>
          </a:p>
        </p:txBody>
      </p:sp>
      <p:sp>
        <p:nvSpPr>
          <p:cNvPr id="135" name="Text 33">
            <a:extLst>
              <a:ext uri="{FF2B5EF4-FFF2-40B4-BE49-F238E27FC236}">
                <a16:creationId xmlns:a16="http://schemas.microsoft.com/office/drawing/2014/main" id="{735C436F-9320-365A-8F36-D202776FDC0E}"/>
              </a:ext>
            </a:extLst>
          </p:cNvPr>
          <p:cNvSpPr/>
          <p:nvPr/>
        </p:nvSpPr>
        <p:spPr>
          <a:xfrm>
            <a:off x="22738385" y="7877313"/>
            <a:ext cx="4320540" cy="987552"/>
          </a:xfrm>
          <a:prstGeom prst="rect">
            <a:avLst/>
          </a:prstGeom>
          <a:noFill/>
          <a:ln/>
        </p:spPr>
        <p:txBody>
          <a:bodyPr wrap="square" lIns="0" tIns="0" rIns="0" bIns="0" rtlCol="0" anchor="ctr"/>
          <a:lstStyle/>
          <a:p>
            <a:r>
              <a:rPr lang="en-US" sz="5130" b="1" dirty="0">
                <a:solidFill>
                  <a:srgbClr val="8B1A1A"/>
                </a:solidFill>
                <a:latin typeface="Garamond" pitchFamily="34" charset="0"/>
                <a:ea typeface="Garamond" pitchFamily="34" charset="-122"/>
                <a:cs typeface="Garamond" pitchFamily="34" charset="-120"/>
              </a:rPr>
              <a:t>14.7%</a:t>
            </a:r>
            <a:endParaRPr lang="en-US" sz="5130" dirty="0"/>
          </a:p>
        </p:txBody>
      </p:sp>
      <p:sp>
        <p:nvSpPr>
          <p:cNvPr id="136" name="Text 34">
            <a:extLst>
              <a:ext uri="{FF2B5EF4-FFF2-40B4-BE49-F238E27FC236}">
                <a16:creationId xmlns:a16="http://schemas.microsoft.com/office/drawing/2014/main" id="{FC8152DE-4F43-F3F3-D86B-A0E493D15012}"/>
              </a:ext>
            </a:extLst>
          </p:cNvPr>
          <p:cNvSpPr/>
          <p:nvPr/>
        </p:nvSpPr>
        <p:spPr>
          <a:xfrm>
            <a:off x="27083614" y="7902002"/>
            <a:ext cx="5308092" cy="987552"/>
          </a:xfrm>
          <a:prstGeom prst="rect">
            <a:avLst/>
          </a:prstGeom>
          <a:noFill/>
          <a:ln/>
        </p:spPr>
        <p:txBody>
          <a:bodyPr wrap="square" lIns="0" tIns="0" rIns="0" bIns="0" rtlCol="0" anchor="ctr"/>
          <a:lstStyle/>
          <a:p>
            <a:pPr>
              <a:lnSpc>
                <a:spcPct val="108000"/>
              </a:lnSpc>
            </a:pPr>
            <a:r>
              <a:rPr lang="en-US" sz="2160" b="1" i="1" dirty="0">
                <a:solidFill>
                  <a:srgbClr val="1A2B4A"/>
                </a:solidFill>
                <a:latin typeface="Garamond" pitchFamily="34" charset="0"/>
                <a:ea typeface="Garamond" pitchFamily="34" charset="-122"/>
                <a:cs typeface="Garamond" pitchFamily="34" charset="-120"/>
              </a:rPr>
              <a:t>Overall BNPL Use Rate</a:t>
            </a:r>
            <a:endParaRPr lang="en-US" sz="2160" dirty="0"/>
          </a:p>
        </p:txBody>
      </p:sp>
      <p:sp>
        <p:nvSpPr>
          <p:cNvPr id="137" name="Text 35">
            <a:extLst>
              <a:ext uri="{FF2B5EF4-FFF2-40B4-BE49-F238E27FC236}">
                <a16:creationId xmlns:a16="http://schemas.microsoft.com/office/drawing/2014/main" id="{82AE7CE9-AB0A-B1C1-96DB-790E6E0F0B3E}"/>
              </a:ext>
            </a:extLst>
          </p:cNvPr>
          <p:cNvSpPr/>
          <p:nvPr/>
        </p:nvSpPr>
        <p:spPr>
          <a:xfrm>
            <a:off x="22713696" y="8726023"/>
            <a:ext cx="9653321" cy="1036930"/>
          </a:xfrm>
          <a:prstGeom prst="rect">
            <a:avLst/>
          </a:prstGeom>
          <a:noFill/>
          <a:ln/>
        </p:spPr>
        <p:txBody>
          <a:bodyPr wrap="square" lIns="0" tIns="0" rIns="0" bIns="0" rtlCol="0" anchor="t"/>
          <a:lstStyle/>
          <a:p>
            <a:pPr>
              <a:lnSpc>
                <a:spcPct val="108000"/>
              </a:lnSpc>
            </a:pPr>
            <a:r>
              <a:rPr lang="en-US" sz="2025" dirty="0">
                <a:solidFill>
                  <a:srgbClr val="374151"/>
                </a:solidFill>
                <a:latin typeface="Calibri" pitchFamily="34" charset="0"/>
                <a:ea typeface="Calibri" pitchFamily="34" charset="-122"/>
                <a:cs typeface="Calibri" pitchFamily="34" charset="-120"/>
              </a:rPr>
              <a:t>BNPL adoption is heavily concentrated among younger and lower-income consumers, with use peaking among adults in their late twenties and early thirties and declining sharply across older age groups.</a:t>
            </a:r>
            <a:endParaRPr lang="en-US" sz="2025" dirty="0"/>
          </a:p>
        </p:txBody>
      </p:sp>
      <p:sp>
        <p:nvSpPr>
          <p:cNvPr id="138" name="Shape 36">
            <a:extLst>
              <a:ext uri="{FF2B5EF4-FFF2-40B4-BE49-F238E27FC236}">
                <a16:creationId xmlns:a16="http://schemas.microsoft.com/office/drawing/2014/main" id="{6E970E74-FD4F-3573-3A41-CCC2ABBA856E}"/>
              </a:ext>
            </a:extLst>
          </p:cNvPr>
          <p:cNvSpPr/>
          <p:nvPr/>
        </p:nvSpPr>
        <p:spPr>
          <a:xfrm>
            <a:off x="22343364" y="9916963"/>
            <a:ext cx="10245852" cy="1979273"/>
          </a:xfrm>
          <a:prstGeom prst="rect">
            <a:avLst/>
          </a:prstGeom>
          <a:solidFill>
            <a:srgbClr val="F5F2EB"/>
          </a:solidFill>
          <a:ln w="6350">
            <a:solidFill>
              <a:srgbClr val="D9D5CC"/>
            </a:solidFill>
            <a:prstDash val="solid"/>
          </a:ln>
        </p:spPr>
        <p:txBody>
          <a:bodyPr/>
          <a:lstStyle/>
          <a:p>
            <a:endParaRPr lang="en-US" sz="13997"/>
          </a:p>
        </p:txBody>
      </p:sp>
      <p:sp>
        <p:nvSpPr>
          <p:cNvPr id="139" name="Shape 37">
            <a:extLst>
              <a:ext uri="{FF2B5EF4-FFF2-40B4-BE49-F238E27FC236}">
                <a16:creationId xmlns:a16="http://schemas.microsoft.com/office/drawing/2014/main" id="{931BDE4D-EE81-9EBD-4A12-8BFF7BD6D4D3}"/>
              </a:ext>
            </a:extLst>
          </p:cNvPr>
          <p:cNvSpPr/>
          <p:nvPr/>
        </p:nvSpPr>
        <p:spPr>
          <a:xfrm>
            <a:off x="22343364" y="9746572"/>
            <a:ext cx="148133" cy="2172614"/>
          </a:xfrm>
          <a:prstGeom prst="rect">
            <a:avLst/>
          </a:prstGeom>
          <a:solidFill>
            <a:srgbClr val="8B1A1A"/>
          </a:solidFill>
          <a:ln w="12700">
            <a:solidFill>
              <a:srgbClr val="8B1A1A"/>
            </a:solidFill>
            <a:prstDash val="solid"/>
          </a:ln>
        </p:spPr>
        <p:txBody>
          <a:bodyPr/>
          <a:lstStyle/>
          <a:p>
            <a:endParaRPr lang="en-US" sz="13997"/>
          </a:p>
        </p:txBody>
      </p:sp>
      <p:sp>
        <p:nvSpPr>
          <p:cNvPr id="140" name="Text 38">
            <a:extLst>
              <a:ext uri="{FF2B5EF4-FFF2-40B4-BE49-F238E27FC236}">
                <a16:creationId xmlns:a16="http://schemas.microsoft.com/office/drawing/2014/main" id="{3DF300C8-0CDE-682C-BFC0-5AB4F2BD8A20}"/>
              </a:ext>
            </a:extLst>
          </p:cNvPr>
          <p:cNvSpPr/>
          <p:nvPr/>
        </p:nvSpPr>
        <p:spPr>
          <a:xfrm>
            <a:off x="22738385" y="10173371"/>
            <a:ext cx="4320540" cy="987552"/>
          </a:xfrm>
          <a:prstGeom prst="rect">
            <a:avLst/>
          </a:prstGeom>
          <a:noFill/>
          <a:ln/>
        </p:spPr>
        <p:txBody>
          <a:bodyPr wrap="square" lIns="0" tIns="0" rIns="0" bIns="0" rtlCol="0" anchor="ctr"/>
          <a:lstStyle/>
          <a:p>
            <a:r>
              <a:rPr lang="en-US" sz="5130" b="1" dirty="0">
                <a:solidFill>
                  <a:srgbClr val="8B1A1A"/>
                </a:solidFill>
                <a:latin typeface="Garamond" pitchFamily="34" charset="0"/>
                <a:ea typeface="Garamond" pitchFamily="34" charset="-122"/>
                <a:cs typeface="Garamond" pitchFamily="34" charset="-120"/>
              </a:rPr>
              <a:t>20.0% → 4.1%</a:t>
            </a:r>
            <a:endParaRPr lang="en-US" sz="5130" dirty="0"/>
          </a:p>
        </p:txBody>
      </p:sp>
      <p:sp>
        <p:nvSpPr>
          <p:cNvPr id="141" name="Text 39">
            <a:extLst>
              <a:ext uri="{FF2B5EF4-FFF2-40B4-BE49-F238E27FC236}">
                <a16:creationId xmlns:a16="http://schemas.microsoft.com/office/drawing/2014/main" id="{724C7E47-2ACB-5683-6721-70DCFA6D791C}"/>
              </a:ext>
            </a:extLst>
          </p:cNvPr>
          <p:cNvSpPr/>
          <p:nvPr/>
        </p:nvSpPr>
        <p:spPr>
          <a:xfrm>
            <a:off x="27083614" y="10198060"/>
            <a:ext cx="5308092" cy="987552"/>
          </a:xfrm>
          <a:prstGeom prst="rect">
            <a:avLst/>
          </a:prstGeom>
          <a:noFill/>
          <a:ln/>
        </p:spPr>
        <p:txBody>
          <a:bodyPr wrap="square" lIns="0" tIns="0" rIns="0" bIns="0" rtlCol="0" anchor="ctr"/>
          <a:lstStyle/>
          <a:p>
            <a:pPr>
              <a:lnSpc>
                <a:spcPct val="108000"/>
              </a:lnSpc>
            </a:pPr>
            <a:r>
              <a:rPr lang="en-US" sz="2160" b="1" i="1" dirty="0">
                <a:solidFill>
                  <a:srgbClr val="1A2B4A"/>
                </a:solidFill>
                <a:latin typeface="Garamond" pitchFamily="34" charset="0"/>
                <a:ea typeface="Garamond" pitchFamily="34" charset="-122"/>
                <a:cs typeface="Garamond" pitchFamily="34" charset="-120"/>
              </a:rPr>
              <a:t>BNPL Use Falls Across Age Groups</a:t>
            </a:r>
            <a:endParaRPr lang="en-US" sz="2160" dirty="0"/>
          </a:p>
        </p:txBody>
      </p:sp>
      <p:sp>
        <p:nvSpPr>
          <p:cNvPr id="142" name="Text 40">
            <a:extLst>
              <a:ext uri="{FF2B5EF4-FFF2-40B4-BE49-F238E27FC236}">
                <a16:creationId xmlns:a16="http://schemas.microsoft.com/office/drawing/2014/main" id="{F196D38C-94BB-1E78-397B-E6120CA7F0B3}"/>
              </a:ext>
            </a:extLst>
          </p:cNvPr>
          <p:cNvSpPr/>
          <p:nvPr/>
        </p:nvSpPr>
        <p:spPr>
          <a:xfrm>
            <a:off x="22701352" y="11126368"/>
            <a:ext cx="9653321" cy="724958"/>
          </a:xfrm>
          <a:prstGeom prst="rect">
            <a:avLst/>
          </a:prstGeom>
          <a:noFill/>
          <a:ln/>
        </p:spPr>
        <p:txBody>
          <a:bodyPr wrap="square" lIns="0" tIns="0" rIns="0" bIns="0" rtlCol="0" anchor="t"/>
          <a:lstStyle/>
          <a:p>
            <a:pPr>
              <a:lnSpc>
                <a:spcPct val="108000"/>
              </a:lnSpc>
            </a:pPr>
            <a:r>
              <a:rPr lang="en-US" sz="2025" dirty="0">
                <a:solidFill>
                  <a:srgbClr val="374151"/>
                </a:solidFill>
                <a:latin typeface="Calibri" pitchFamily="34" charset="0"/>
                <a:ea typeface="Calibri" pitchFamily="34" charset="-122"/>
                <a:cs typeface="Calibri" pitchFamily="34" charset="-120"/>
              </a:rPr>
              <a:t>This pattern holds after applying SHED post-stratification weights and is statistically significant after Holm-Bonferroni correction across demographic predictors.</a:t>
            </a:r>
            <a:endParaRPr lang="en-US" sz="2025" dirty="0"/>
          </a:p>
        </p:txBody>
      </p:sp>
      <p:sp>
        <p:nvSpPr>
          <p:cNvPr id="143" name="Shape 41">
            <a:extLst>
              <a:ext uri="{FF2B5EF4-FFF2-40B4-BE49-F238E27FC236}">
                <a16:creationId xmlns:a16="http://schemas.microsoft.com/office/drawing/2014/main" id="{97206CC2-8D2A-D3FC-F8D3-5C99F5F79A8E}"/>
              </a:ext>
            </a:extLst>
          </p:cNvPr>
          <p:cNvSpPr/>
          <p:nvPr/>
        </p:nvSpPr>
        <p:spPr>
          <a:xfrm>
            <a:off x="22336355" y="11923510"/>
            <a:ext cx="10245852" cy="1843930"/>
          </a:xfrm>
          <a:prstGeom prst="rect">
            <a:avLst/>
          </a:prstGeom>
          <a:solidFill>
            <a:srgbClr val="F5F2EB"/>
          </a:solidFill>
          <a:ln w="6350">
            <a:solidFill>
              <a:srgbClr val="D9D5CC"/>
            </a:solidFill>
            <a:prstDash val="solid"/>
          </a:ln>
        </p:spPr>
        <p:txBody>
          <a:bodyPr/>
          <a:lstStyle/>
          <a:p>
            <a:endParaRPr lang="en-US" sz="13997"/>
          </a:p>
        </p:txBody>
      </p:sp>
      <p:sp>
        <p:nvSpPr>
          <p:cNvPr id="145" name="Text 43">
            <a:extLst>
              <a:ext uri="{FF2B5EF4-FFF2-40B4-BE49-F238E27FC236}">
                <a16:creationId xmlns:a16="http://schemas.microsoft.com/office/drawing/2014/main" id="{FAA57D07-AFE5-F7AB-7F0D-CBC4E389A6C3}"/>
              </a:ext>
            </a:extLst>
          </p:cNvPr>
          <p:cNvSpPr/>
          <p:nvPr/>
        </p:nvSpPr>
        <p:spPr>
          <a:xfrm>
            <a:off x="22689007" y="12012495"/>
            <a:ext cx="4320540" cy="987552"/>
          </a:xfrm>
          <a:prstGeom prst="rect">
            <a:avLst/>
          </a:prstGeom>
          <a:noFill/>
          <a:ln/>
        </p:spPr>
        <p:txBody>
          <a:bodyPr wrap="square" lIns="0" tIns="0" rIns="0" bIns="0" rtlCol="0" anchor="ctr"/>
          <a:lstStyle/>
          <a:p>
            <a:r>
              <a:rPr lang="en-US" sz="5130" b="1" dirty="0">
                <a:solidFill>
                  <a:srgbClr val="8B1A1A"/>
                </a:solidFill>
                <a:latin typeface="Garamond" pitchFamily="34" charset="0"/>
                <a:ea typeface="Garamond" pitchFamily="34" charset="-122"/>
                <a:cs typeface="Garamond" pitchFamily="34" charset="-120"/>
              </a:rPr>
              <a:t>+0.634 SD</a:t>
            </a:r>
            <a:endParaRPr lang="en-US" sz="5130" dirty="0"/>
          </a:p>
        </p:txBody>
      </p:sp>
      <p:sp>
        <p:nvSpPr>
          <p:cNvPr id="146" name="Text 44">
            <a:extLst>
              <a:ext uri="{FF2B5EF4-FFF2-40B4-BE49-F238E27FC236}">
                <a16:creationId xmlns:a16="http://schemas.microsoft.com/office/drawing/2014/main" id="{4CB78296-C222-E994-21E4-55A866026738}"/>
              </a:ext>
            </a:extLst>
          </p:cNvPr>
          <p:cNvSpPr/>
          <p:nvPr/>
        </p:nvSpPr>
        <p:spPr>
          <a:xfrm>
            <a:off x="27034236" y="12037184"/>
            <a:ext cx="5801868" cy="987552"/>
          </a:xfrm>
          <a:prstGeom prst="rect">
            <a:avLst/>
          </a:prstGeom>
          <a:noFill/>
          <a:ln/>
        </p:spPr>
        <p:txBody>
          <a:bodyPr wrap="square" lIns="0" tIns="0" rIns="0" bIns="0" rtlCol="0" anchor="ctr"/>
          <a:lstStyle/>
          <a:p>
            <a:pPr>
              <a:lnSpc>
                <a:spcPct val="108000"/>
              </a:lnSpc>
            </a:pPr>
            <a:r>
              <a:rPr lang="en-US" sz="2160" b="1" i="1" dirty="0">
                <a:solidFill>
                  <a:srgbClr val="1A2B4A"/>
                </a:solidFill>
                <a:latin typeface="Garamond" pitchFamily="34" charset="0"/>
                <a:ea typeface="Garamond" pitchFamily="34" charset="-122"/>
                <a:cs typeface="Garamond" pitchFamily="34" charset="-120"/>
              </a:rPr>
              <a:t>Fragility Gap Between BNPL Users vs Non-Users</a:t>
            </a:r>
            <a:endParaRPr lang="en-US" sz="2160" dirty="0"/>
          </a:p>
        </p:txBody>
      </p:sp>
      <p:sp>
        <p:nvSpPr>
          <p:cNvPr id="147" name="Text 45">
            <a:extLst>
              <a:ext uri="{FF2B5EF4-FFF2-40B4-BE49-F238E27FC236}">
                <a16:creationId xmlns:a16="http://schemas.microsoft.com/office/drawing/2014/main" id="{577FAD27-A245-C12F-3153-0B381F827289}"/>
              </a:ext>
            </a:extLst>
          </p:cNvPr>
          <p:cNvSpPr/>
          <p:nvPr/>
        </p:nvSpPr>
        <p:spPr>
          <a:xfrm>
            <a:off x="22760830" y="12929950"/>
            <a:ext cx="9653321" cy="1036930"/>
          </a:xfrm>
          <a:prstGeom prst="rect">
            <a:avLst/>
          </a:prstGeom>
          <a:noFill/>
          <a:ln/>
        </p:spPr>
        <p:txBody>
          <a:bodyPr wrap="square" lIns="0" tIns="0" rIns="0" bIns="0" rtlCol="0" anchor="t"/>
          <a:lstStyle/>
          <a:p>
            <a:pPr>
              <a:lnSpc>
                <a:spcPct val="108000"/>
              </a:lnSpc>
            </a:pPr>
            <a:r>
              <a:rPr lang="en-US" sz="2025" dirty="0">
                <a:solidFill>
                  <a:srgbClr val="374151"/>
                </a:solidFill>
                <a:latin typeface="Calibri" pitchFamily="34" charset="0"/>
                <a:ea typeface="Calibri" pitchFamily="34" charset="-122"/>
                <a:cs typeface="Calibri" pitchFamily="34" charset="-120"/>
              </a:rPr>
              <a:t>We find that BNPL users score more than half a standard deviation higher on our composite vulnerability index than non-users. </a:t>
            </a:r>
            <a:endParaRPr lang="en-US" sz="2025" dirty="0"/>
          </a:p>
        </p:txBody>
      </p:sp>
      <p:sp>
        <p:nvSpPr>
          <p:cNvPr id="149" name="Shape 37">
            <a:extLst>
              <a:ext uri="{FF2B5EF4-FFF2-40B4-BE49-F238E27FC236}">
                <a16:creationId xmlns:a16="http://schemas.microsoft.com/office/drawing/2014/main" id="{1EB1ED50-CF8D-E85E-63DB-B8ED47787371}"/>
              </a:ext>
            </a:extLst>
          </p:cNvPr>
          <p:cNvSpPr/>
          <p:nvPr/>
        </p:nvSpPr>
        <p:spPr>
          <a:xfrm>
            <a:off x="22343364" y="11433049"/>
            <a:ext cx="148133" cy="2363189"/>
          </a:xfrm>
          <a:prstGeom prst="rect">
            <a:avLst/>
          </a:prstGeom>
          <a:solidFill>
            <a:srgbClr val="8B1A1A"/>
          </a:solidFill>
          <a:ln w="12700">
            <a:solidFill>
              <a:srgbClr val="8B1A1A"/>
            </a:solidFill>
            <a:prstDash val="solid"/>
          </a:ln>
        </p:spPr>
        <p:txBody>
          <a:bodyPr/>
          <a:lstStyle/>
          <a:p>
            <a:endParaRPr lang="en-US" sz="13997"/>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36</TotalTime>
  <Words>556</Words>
  <Application>Microsoft Macintosh PowerPoint</Application>
  <PresentationFormat>Custom</PresentationFormat>
  <Paragraphs>46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Garamond</vt:lpstr>
      <vt:lpstr>Office 2013 - 2022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BNPL &amp; Financial Vulnerability</dc:title>
  <dc:subject>PptxGenJS Presentation</dc:subject>
  <dc:creator>PptxGenJS</dc:creator>
  <cp:lastModifiedBy>Haoyi He</cp:lastModifiedBy>
  <cp:revision>5</cp:revision>
  <dcterms:created xsi:type="dcterms:W3CDTF">2026-05-21T21:20:10Z</dcterms:created>
  <dcterms:modified xsi:type="dcterms:W3CDTF">2026-05-22T23:06:04Z</dcterms:modified>
</cp:coreProperties>
</file>