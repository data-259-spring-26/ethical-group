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40"/>
    <p:restoredTop sz="94610"/>
  </p:normalViewPr>
  <p:slideViewPr>
    <p:cSldViewPr snapToGrid="0" snapToObjects="1">
      <p:cViewPr>
        <p:scale>
          <a:sx n="136" d="100"/>
          <a:sy n="136" d="100"/>
        </p:scale>
        <p:origin x="21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BNPL use rate (%)</c:v>
                </c:pt>
              </c:strCache>
            </c:strRef>
          </c:tx>
          <c:spPr>
            <a:solidFill>
              <a:srgbClr val="3B568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 i="0" u="none" strike="noStrike">
                    <a:solidFill>
                      <a:srgbClr val="1A2B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65-74</c:v>
                </c:pt>
                <c:pt idx="6">
                  <c:v>75+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17.899999999999999</c:v>
                </c:pt>
                <c:pt idx="1">
                  <c:v>20</c:v>
                </c:pt>
                <c:pt idx="2">
                  <c:v>18.399999999999999</c:v>
                </c:pt>
                <c:pt idx="3">
                  <c:v>16.100000000000001</c:v>
                </c:pt>
                <c:pt idx="4">
                  <c:v>12.8</c:v>
                </c:pt>
                <c:pt idx="5">
                  <c:v>8.4</c:v>
                </c:pt>
                <c:pt idx="6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3-DB4C-8050-4A767AFD56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>
              <a:solidFill>
                <a:srgbClr val="E8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051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600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BUY NOW, PAY LATER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1521440" cy="0"/>
          </a:xfrm>
          <a:prstGeom prst="line">
            <a:avLst/>
          </a:prstGeom>
          <a:noFill/>
          <a:ln w="15875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152144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77824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RESEARCH QUESTION AND ETHICAL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11521440" cy="384048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64008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 Question  </a:t>
            </a:r>
            <a:r>
              <a:rPr lang="en-US" sz="1050" dirty="0">
                <a:solidFill>
                  <a:srgbClr val="B5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BNPL providers disproportionately reach financially vulnerable consumers, and does the messaging in their advertising obscure or downplay the risks of borrowing?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QUESTION MATTERS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379476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574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Buy-now-pay-later ("BNPL") has grown explosively in the U.S. consumer finance market, with prior CFPB research documenting concentrated adoption among </a:t>
            </a: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Hispanic, lower-income, and younger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— the same cohorts least equipped to absorb a missed payment or late fee.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1089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DATA ETHICS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319272"/>
            <a:ext cx="1897380" cy="0"/>
          </a:xfrm>
          <a:prstGeom prst="line">
            <a:avLst/>
          </a:prstGeom>
          <a:noFill/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0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(i) Autonomy &amp; Consent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ad targeting can reach the financially anxious without their awareness, undermining meaningful consent.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886200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0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(ii) Legal but Harmful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BNPL marketing here is illegal — the gap between legality and ethical practice is what data ethics names.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389120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0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(iii) Algorithmic Amplification</a:t>
            </a:r>
            <a:endParaRPr lang="en-US" sz="900" dirty="0"/>
          </a:p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Engagement-optimized ad delivery concentrates impressions on users most likely to click — the most fragile.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1691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965960"/>
            <a:ext cx="379476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 Source.  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SHED 2024, n = 12,295 U.S. adults, post-stratification weighted.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25146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ANALYSES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734056"/>
          <a:ext cx="3794760" cy="114300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Rao-Scott weighted χ²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BNPL use vary across groups?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Cronbach's α + weighted PCA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coherent fragility composite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WLS LPM, HC3 robust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survive demographic controls?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score matching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survive matching like-for-like?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297680" y="38862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BNPL USE BY AGE BAND (WEIGHTED %)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206240" y="4087368"/>
          <a:ext cx="3931920" cy="98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2"/>
          <p:cNvSpPr/>
          <p:nvPr/>
        </p:nvSpPr>
        <p:spPr>
          <a:xfrm>
            <a:off x="4297680" y="51114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Federal Reserve SHED 2024, weighted; group means of BNPL1 = 1.   n = 12,295.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275320" y="1691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275320" y="1965960"/>
            <a:ext cx="379476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275320" y="2057400"/>
            <a:ext cx="3794760" cy="685800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8275320" y="2057400"/>
            <a:ext cx="54864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8421624" y="20756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+4.24 pp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0030968" y="209397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Regression Effect (Per +1 SD Vulnerability)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8421624" y="2478024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LPM β = 0.0424, HC3 robust SE = 0.012, p &lt; 0.001. Holds after controlling for age, income, race, education.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8275320" y="2798064"/>
            <a:ext cx="3794760" cy="685800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8275320" y="2798064"/>
            <a:ext cx="54864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8421624" y="28163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+4.56 pp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10030968" y="2834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ATT from Propensity Score Matching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8421624" y="3218688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demographically near-identical pairs (caliper 0.2 SD), fragile members use BNPL 20.7% vs 16.2% (paired t-test p ≈ 4 × 10⁻¹⁰).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8275320" y="3538728"/>
            <a:ext cx="3794760" cy="685800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8275320" y="3538728"/>
            <a:ext cx="54864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8421624" y="355701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54.0%</a:t>
            </a:r>
            <a:endParaRPr lang="en-US" sz="2000" dirty="0"/>
          </a:p>
        </p:txBody>
      </p:sp>
      <p:sp>
        <p:nvSpPr>
          <p:cNvPr id="42" name="Text 38"/>
          <p:cNvSpPr/>
          <p:nvPr/>
        </p:nvSpPr>
        <p:spPr>
          <a:xfrm>
            <a:off x="10030968" y="35753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PC1 Variance — Single Fragility Construct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8421624" y="3959352"/>
            <a:ext cx="3575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PCA on 7 items; VULN_PCA1 sits +0.63 SD higher among BNPL users vs. non-users. Sum-score robustness: r = 0.93.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8275320" y="4315968"/>
            <a:ext cx="379476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8385048" y="436168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OBSERVATION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8385048" y="451713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methodologically independent designs converge on a ~4 pp incremental BNPL-use effect attributable to vulnerability, net of demographic controls.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320040" y="5303520"/>
            <a:ext cx="11521440" cy="0"/>
          </a:xfrm>
          <a:prstGeom prst="line">
            <a:avLst/>
          </a:prstGeom>
          <a:noFill/>
          <a:ln w="9525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320040" y="5349240"/>
            <a:ext cx="1152144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320040" y="5394960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EVIDENCE DETAIL &amp; ROBUSTNESS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320040" y="56144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WLS LINEAR PROBABILITY MODEL — SELECTED COEFFICIENTS  (Outcome: BNPL use, past 12 months)</a:t>
            </a:r>
            <a:endParaRPr lang="en-US" sz="8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79008"/>
          <a:ext cx="7772400" cy="1036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score (per +1 SD)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8B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— survives demographic controls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75+ (vs 18–24)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demographic gradient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Race: Black (vs reference)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Disparity persists after vulnerability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&lt; $25k (vs reference)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Bivariate income gap absorbed by vulnerability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× Age 25–34 (interaction)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— no by-age amplification of vulnerability effect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Text 47"/>
          <p:cNvSpPr/>
          <p:nvPr/>
        </p:nvSpPr>
        <p:spPr>
          <a:xfrm>
            <a:off x="8275320" y="56144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SENSITIVITY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275320" y="5815584"/>
            <a:ext cx="3794760" cy="246888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8275320" y="5815584"/>
            <a:ext cx="45720" cy="2468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8366760" y="5824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Sum-score Index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9390888" y="58247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 = 0.93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10149840" y="58247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Sum-score correlates near-perfectly with PCA index; results unchanged when substituted.</a:t>
            </a:r>
            <a:endParaRPr lang="en-US" sz="700" dirty="0"/>
          </a:p>
        </p:txBody>
      </p:sp>
      <p:sp>
        <p:nvSpPr>
          <p:cNvPr id="58" name="Shape 53"/>
          <p:cNvSpPr/>
          <p:nvPr/>
        </p:nvSpPr>
        <p:spPr>
          <a:xfrm>
            <a:off x="8275320" y="6099048"/>
            <a:ext cx="3794760" cy="246888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4"/>
          <p:cNvSpPr/>
          <p:nvPr/>
        </p:nvSpPr>
        <p:spPr>
          <a:xfrm>
            <a:off x="8275320" y="6099048"/>
            <a:ext cx="45720" cy="2468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8366760" y="61081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HC Variant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9390888" y="6108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 &lt; 0.001</a:t>
            </a:r>
            <a:endParaRPr lang="en-US" sz="850" dirty="0"/>
          </a:p>
        </p:txBody>
      </p:sp>
      <p:sp>
        <p:nvSpPr>
          <p:cNvPr id="62" name="Text 57"/>
          <p:cNvSpPr/>
          <p:nvPr/>
        </p:nvSpPr>
        <p:spPr>
          <a:xfrm>
            <a:off x="10149840" y="6108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stable across HC0/HC1/HC3 robust covariance specifications.</a:t>
            </a:r>
            <a:endParaRPr lang="en-US" sz="700" dirty="0"/>
          </a:p>
        </p:txBody>
      </p:sp>
      <p:sp>
        <p:nvSpPr>
          <p:cNvPr id="63" name="Shape 58"/>
          <p:cNvSpPr/>
          <p:nvPr/>
        </p:nvSpPr>
        <p:spPr>
          <a:xfrm>
            <a:off x="8275320" y="6382512"/>
            <a:ext cx="3794760" cy="246888"/>
          </a:xfrm>
          <a:prstGeom prst="rect">
            <a:avLst/>
          </a:prstGeom>
          <a:solidFill>
            <a:srgbClr val="F5F2EB"/>
          </a:solidFill>
          <a:ln w="6350">
            <a:solidFill>
              <a:srgbClr val="D9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9"/>
          <p:cNvSpPr/>
          <p:nvPr/>
        </p:nvSpPr>
        <p:spPr>
          <a:xfrm>
            <a:off x="8275320" y="6382512"/>
            <a:ext cx="45720" cy="2468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/>
          <p:nvPr/>
        </p:nvSpPr>
        <p:spPr>
          <a:xfrm>
            <a:off x="8366760" y="63916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1A2B4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Matching Caliper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9390888" y="63916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 ≈ 0.2 pp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10149840" y="6391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within ±0.2 pp under caliper widths 0.1, 0.2, 0.25 SD; balance retained.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Macintosh PowerPoint</Application>
  <PresentationFormat>Widescreen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BNPL &amp; Financial Vulnerability</dc:title>
  <dc:subject>PptxGenJS Presentation</dc:subject>
  <dc:creator>PptxGenJS</dc:creator>
  <cp:lastModifiedBy>Haoyi He</cp:lastModifiedBy>
  <cp:revision>2</cp:revision>
  <dcterms:created xsi:type="dcterms:W3CDTF">2026-05-21T21:20:10Z</dcterms:created>
  <dcterms:modified xsi:type="dcterms:W3CDTF">2026-05-21T21:21:03Z</dcterms:modified>
</cp:coreProperties>
</file>